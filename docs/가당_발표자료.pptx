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24445-D688-037D-6F73-C5E054D76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2070F-35C3-D177-6188-367E1E2049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731EE-B181-8C9B-33FC-DCC85364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EEAA-9FE9-4E60-A272-1A05EF720AB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65B4D-25D7-0C52-3D1A-DB9EFD3A2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E0C3F-A1BA-42EB-C9FB-994F701E3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43374-C9AF-4E68-9D40-842706C2D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267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044D4-9E40-5BE7-AA2F-4C03EFE5C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6EE7F-9C53-81BE-8A1D-FDEFB1A34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C7063-7D16-CF77-2FE4-0C069490A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EEAA-9FE9-4E60-A272-1A05EF720AB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FA80A-9D0B-5DD3-42D0-B7D33815D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F6366-A8E3-91CA-39D4-A62BF10B1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43374-C9AF-4E68-9D40-842706C2D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509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51E04-86C6-8CEC-CAF2-10306B060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0C6A5-2126-E2C9-5ED5-0695F1A8E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1CDAD-CDB4-D549-D6D0-57720B7A6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EEAA-9FE9-4E60-A272-1A05EF720AB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A2C71-80AF-6FBF-C1AC-8999E880C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F7762-FD3D-660B-2280-B6E856237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43374-C9AF-4E68-9D40-842706C2D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3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1058-BC47-70B3-305E-CBD97878C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7E59D-CC7F-7181-FB7D-3685647CF2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5F9CFC-03E6-18A7-EF5B-1CA7C9779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997C7-6486-B748-4A4A-C62BF743F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EEAA-9FE9-4E60-A272-1A05EF720AB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DE173-2F1F-D526-F010-E75799E4E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EBF4F-57D8-B7AF-4420-646E67BB5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43374-C9AF-4E68-9D40-842706C2D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382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C3810-BAF5-F1BD-CB70-7D9E496D3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A65C86-4277-A6F3-A79B-0B201C1A2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BC7869-E7A1-487F-9F1F-2E5601D70A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4DDAA5-D142-8357-2BC3-88948A7111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7F5F3B-9B5F-A11D-715C-3AD8768299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2BF442-3958-061A-7924-2444642C4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EEAA-9FE9-4E60-A272-1A05EF720AB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082C6B-651C-7D4E-E81C-F26261667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16371F-56C4-2174-74FB-7EB1D78D3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43374-C9AF-4E68-9D40-842706C2D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89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21FB4-091F-3015-3E7D-DFAE6C0C0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63535D-1A57-4687-E5F5-1A2D33447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EEAA-9FE9-4E60-A272-1A05EF720AB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5E9587-9550-54C9-BD7A-CA48B9A4F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B26CA-407B-EC34-1180-7A7EAB6A6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43374-C9AF-4E68-9D40-842706C2D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69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66640-1DB1-EF37-BA80-DFE5BEC7F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EEAA-9FE9-4E60-A272-1A05EF720AB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93DC06-177D-B0B9-47BA-6FB29644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169BD-C2D4-42B3-9651-225FBD2C7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43374-C9AF-4E68-9D40-842706C2D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46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C7ACA-9D92-AAA0-E381-C0F618EF3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26E39-9102-8BE4-F750-9D60DD7E4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BBD3A-6775-0E49-CE90-93117836E4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26F63-7C3F-D781-C24C-A00DCA45B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EEAA-9FE9-4E60-A272-1A05EF720AB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4AD4BB-1DF2-AEEC-1581-3E721EE8A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DEA409-CAF8-B5EF-0E37-DD44992B3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43374-C9AF-4E68-9D40-842706C2D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452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AF399-F456-9F62-5C71-C342E1640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47157A-DC68-6868-A3B2-D7563A0392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9D8E51-17B9-57B7-5B30-33CFCEDF2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DD238E-8CE3-55C9-0F2A-8FC39AE0A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EEAA-9FE9-4E60-A272-1A05EF720AB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58F64-D330-2CE9-6002-7B8DC0548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5E2CB-E987-4749-D64D-97E9E62FE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43374-C9AF-4E68-9D40-842706C2D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9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77A49-DB6F-9B61-33E2-A62ACEC47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0F4B22-B5F4-1E31-2460-ADDB4DC676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E0F02-4C8F-2681-9742-FA1382708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EEAA-9FE9-4E60-A272-1A05EF720AB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95A53-12BF-4AE7-1113-4CA8BF38D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61149-7016-7D35-B65B-6EB8A55BE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43374-C9AF-4E68-9D40-842706C2D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830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221413-77E1-7E80-1D2F-F43E90060A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739DC-CF68-EEDD-FDBB-D4B84DE037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36BF1-9A47-FFF9-9911-A637D477E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7EEAA-9FE9-4E60-A272-1A05EF720AB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9C171-D8C5-D705-3A88-751BAD6D5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5A7AA-F9E3-399E-98C8-0D4682A0F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43374-C9AF-4E68-9D40-842706C2D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20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E8B90C-59FA-2521-EC77-7BBD15BB4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A7D35-10FD-8D88-A3C6-B5297F31D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1F233-EFEA-958D-1F03-1BF6F53830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C7EEAA-9FE9-4E60-A272-1A05EF720AB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E23A7-7BEB-11C4-DDA2-23A906676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789A0-8EC8-FAF3-ED54-1B3A59877E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543374-C9AF-4E68-9D40-842706C2D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880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3CFB8A-1D73-48BE-054B-073DF834C7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B6B1C4-6AF6-0E65-A393-F4E954355B3F}"/>
              </a:ext>
            </a:extLst>
          </p:cNvPr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3432B6-9A01-874F-A82E-21B4244CF3C8}"/>
              </a:ext>
            </a:extLst>
          </p:cNvPr>
          <p:cNvSpPr/>
          <p:nvPr/>
        </p:nvSpPr>
        <p:spPr>
          <a:xfrm>
            <a:off x="3810000" y="0"/>
            <a:ext cx="8382000" cy="6858000"/>
          </a:xfrm>
          <a:prstGeom prst="rect">
            <a:avLst/>
          </a:prstGeom>
          <a:solidFill>
            <a:srgbClr val="FAF7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E98D7E-64F9-0DAE-5A7C-321CCDA833BD}"/>
              </a:ext>
            </a:extLst>
          </p:cNvPr>
          <p:cNvSpPr/>
          <p:nvPr/>
        </p:nvSpPr>
        <p:spPr>
          <a:xfrm>
            <a:off x="4506722" y="1042888"/>
            <a:ext cx="6988556" cy="403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7CF511-BE5D-F501-C088-1B4C9E78E1D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221" y="1111151"/>
            <a:ext cx="6839863" cy="38703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9F0799-8ADE-72B3-260B-816BB8DA28A7}"/>
              </a:ext>
            </a:extLst>
          </p:cNvPr>
          <p:cNvSpPr txBox="1"/>
          <p:nvPr/>
        </p:nvSpPr>
        <p:spPr>
          <a:xfrm>
            <a:off x="671322" y="3319525"/>
            <a:ext cx="26670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4200" b="1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가당</a:t>
            </a:r>
            <a:endParaRPr lang="en-US" sz="4200" b="1">
              <a:solidFill>
                <a:srgbClr val="FFFFFF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5E8758-D20E-3A94-47BC-C9B37322DE4C}"/>
              </a:ext>
            </a:extLst>
          </p:cNvPr>
          <p:cNvSpPr txBox="1"/>
          <p:nvPr/>
        </p:nvSpPr>
        <p:spPr>
          <a:xfrm>
            <a:off x="696722" y="4170425"/>
            <a:ext cx="26670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2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가성비 당일치기</a:t>
            </a:r>
          </a:p>
          <a:p>
            <a:r>
              <a:rPr lang="ko-KR" altLang="en-US" sz="22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여행 플랫폼</a:t>
            </a:r>
            <a:endParaRPr lang="en-US" sz="2200" b="1" dirty="0">
              <a:solidFill>
                <a:srgbClr val="FFFFFF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928C6B-3E03-BCF7-5A64-0439FD4E5409}"/>
              </a:ext>
            </a:extLst>
          </p:cNvPr>
          <p:cNvSpPr txBox="1"/>
          <p:nvPr/>
        </p:nvSpPr>
        <p:spPr>
          <a:xfrm>
            <a:off x="696722" y="5478750"/>
            <a:ext cx="2667000" cy="5078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100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SSAFY 15</a:t>
            </a:r>
            <a:r>
              <a:rPr lang="ko-KR" altLang="en-US" sz="1100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기 부울경 </a:t>
            </a:r>
            <a:r>
              <a:rPr lang="en-US" altLang="ko-KR" sz="1100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3</a:t>
            </a:r>
            <a:r>
              <a:rPr lang="ko-KR" altLang="en-US" sz="1100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반 </a:t>
            </a:r>
            <a:r>
              <a:rPr lang="en-US" altLang="ko-KR" sz="1100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4</a:t>
            </a:r>
            <a:r>
              <a:rPr lang="ko-KR" altLang="en-US" sz="1100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팀</a:t>
            </a:r>
          </a:p>
          <a:p>
            <a:r>
              <a:rPr lang="ko-KR" altLang="en-US" sz="1100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고지혁 </a:t>
            </a:r>
            <a:r>
              <a:rPr lang="en-US" altLang="ko-KR" sz="1100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· </a:t>
            </a:r>
            <a:r>
              <a:rPr lang="ko-KR" altLang="en-US" sz="1100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박찬형</a:t>
            </a:r>
          </a:p>
          <a:p>
            <a:r>
              <a:rPr lang="en-US" altLang="ko-KR" sz="1100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2026.06.26</a:t>
            </a:r>
            <a:endParaRPr lang="en-US" sz="1100" dirty="0">
              <a:solidFill>
                <a:srgbClr val="FFFFFF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86948D-0464-B716-12C1-66D9106B634E}"/>
              </a:ext>
            </a:extLst>
          </p:cNvPr>
          <p:cNvSpPr txBox="1"/>
          <p:nvPr/>
        </p:nvSpPr>
        <p:spPr>
          <a:xfrm>
            <a:off x="4601718" y="5478750"/>
            <a:ext cx="689356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 dirty="0">
                <a:solidFill>
                  <a:srgbClr val="B85A1E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출발지</a:t>
            </a:r>
            <a:r>
              <a:rPr lang="en-US" altLang="ko-KR" sz="1500" b="1" dirty="0">
                <a:solidFill>
                  <a:srgbClr val="B85A1E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500" b="1" dirty="0">
                <a:solidFill>
                  <a:srgbClr val="B85A1E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시간</a:t>
            </a:r>
            <a:r>
              <a:rPr lang="en-US" altLang="ko-KR" sz="1500" b="1" dirty="0">
                <a:solidFill>
                  <a:srgbClr val="B85A1E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500" b="1" dirty="0">
                <a:solidFill>
                  <a:srgbClr val="B85A1E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예산을 기반으로 당일치기 여행 코스를 추천하고 공유하는 서비스</a:t>
            </a:r>
            <a:endParaRPr lang="en-US" sz="1500" b="1" dirty="0">
              <a:solidFill>
                <a:srgbClr val="B85A1E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7729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EC3D3B-B788-7DE6-82A2-BC3F2FD5C3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A109DE-3097-96B7-232E-50EAA1401B94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E058E8-AD3B-8824-BAFC-F0B6BADEDDAD}"/>
              </a:ext>
            </a:extLst>
          </p:cNvPr>
          <p:cNvSpPr txBox="1"/>
          <p:nvPr/>
        </p:nvSpPr>
        <p:spPr>
          <a:xfrm>
            <a:off x="457200" y="215900"/>
            <a:ext cx="2413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00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6E4212-5E2F-EF1A-6ABC-6BE139EB3C30}"/>
              </a:ext>
            </a:extLst>
          </p:cNvPr>
          <p:cNvSpPr txBox="1"/>
          <p:nvPr/>
        </p:nvSpPr>
        <p:spPr>
          <a:xfrm>
            <a:off x="457200" y="965200"/>
            <a:ext cx="863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목차</a:t>
            </a:r>
            <a:endParaRPr lang="en-US" sz="2400" b="1">
              <a:solidFill>
                <a:srgbClr val="2D2926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0BF965-C8B1-A36A-C56E-5A3A865E978C}"/>
              </a:ext>
            </a:extLst>
          </p:cNvPr>
          <p:cNvSpPr/>
          <p:nvPr/>
        </p:nvSpPr>
        <p:spPr>
          <a:xfrm>
            <a:off x="457200" y="1473200"/>
            <a:ext cx="11277600" cy="25400"/>
          </a:xfrm>
          <a:prstGeom prst="rect">
            <a:avLst/>
          </a:prstGeom>
          <a:solidFill>
            <a:srgbClr val="E4DD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D3752-0F65-9014-1167-4F462B1C6E6C}"/>
              </a:ext>
            </a:extLst>
          </p:cNvPr>
          <p:cNvSpPr txBox="1"/>
          <p:nvPr/>
        </p:nvSpPr>
        <p:spPr>
          <a:xfrm>
            <a:off x="9474200" y="215900"/>
            <a:ext cx="2260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ko-KR" altLang="en-US" sz="800">
                <a:solidFill>
                  <a:srgbClr val="FFFFFF"/>
                </a:solidFill>
                <a:latin typeface="Consolas" panose="020B0609020204030204" pitchFamily="49" charset="0"/>
              </a:rPr>
              <a:t>가당 </a:t>
            </a:r>
            <a:r>
              <a:rPr lang="en-US" sz="800">
                <a:solidFill>
                  <a:srgbClr val="FFFFFF"/>
                </a:solidFill>
                <a:latin typeface="Consolas" panose="020B0609020204030204" pitchFamily="49" charset="0"/>
              </a:rPr>
              <a:t>final 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979AB5-A49B-71BD-27CE-F7562361E36A}"/>
              </a:ext>
            </a:extLst>
          </p:cNvPr>
          <p:cNvSpPr txBox="1"/>
          <p:nvPr/>
        </p:nvSpPr>
        <p:spPr>
          <a:xfrm>
            <a:off x="11290300" y="6388100"/>
            <a:ext cx="444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6B6360"/>
                </a:solidFill>
                <a:latin typeface="Consolas" panose="020B0609020204030204" pitchFamily="49" charset="0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22989E-AB39-20EB-AFE1-54A873BE91A9}"/>
              </a:ext>
            </a:extLst>
          </p:cNvPr>
          <p:cNvSpPr/>
          <p:nvPr/>
        </p:nvSpPr>
        <p:spPr>
          <a:xfrm>
            <a:off x="1027176" y="2075934"/>
            <a:ext cx="889000" cy="482600"/>
          </a:xfrm>
          <a:prstGeom prst="rect">
            <a:avLst/>
          </a:prstGeom>
          <a:solidFill>
            <a:srgbClr val="FDF0E6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0AAA15-FD36-7F9D-7E0C-96392D0D71AA}"/>
              </a:ext>
            </a:extLst>
          </p:cNvPr>
          <p:cNvSpPr txBox="1"/>
          <p:nvPr/>
        </p:nvSpPr>
        <p:spPr>
          <a:xfrm>
            <a:off x="1230376" y="2190234"/>
            <a:ext cx="482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B85A1E"/>
                </a:solidFill>
                <a:latin typeface="Consolas" panose="020B0609020204030204" pitchFamily="49" charset="0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D5675A-0D49-3615-5282-21C61E9C2B85}"/>
              </a:ext>
            </a:extLst>
          </p:cNvPr>
          <p:cNvSpPr txBox="1"/>
          <p:nvPr/>
        </p:nvSpPr>
        <p:spPr>
          <a:xfrm>
            <a:off x="2246376" y="2126734"/>
            <a:ext cx="330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2D2926"/>
                </a:solidFill>
                <a:latin typeface="Pretendard"/>
              </a:rPr>
              <a:t>프로젝트 개요</a:t>
            </a:r>
            <a:endParaRPr lang="en-US" sz="160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75E575-0926-A172-340D-1B089B0F199F}"/>
              </a:ext>
            </a:extLst>
          </p:cNvPr>
          <p:cNvSpPr txBox="1"/>
          <p:nvPr/>
        </p:nvSpPr>
        <p:spPr>
          <a:xfrm>
            <a:off x="2246376" y="2406134"/>
            <a:ext cx="571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>
                <a:solidFill>
                  <a:srgbClr val="6B6360"/>
                </a:solidFill>
                <a:latin typeface="Pretendard"/>
              </a:rPr>
              <a:t>목표</a:t>
            </a:r>
            <a:r>
              <a:rPr lang="en-US" altLang="ko-KR" sz="160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1600">
                <a:solidFill>
                  <a:srgbClr val="6B6360"/>
                </a:solidFill>
                <a:latin typeface="Pretendard"/>
              </a:rPr>
              <a:t>사용자</a:t>
            </a:r>
            <a:r>
              <a:rPr lang="en-US" altLang="ko-KR" sz="160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1600">
                <a:solidFill>
                  <a:srgbClr val="6B6360"/>
                </a:solidFill>
                <a:latin typeface="Pretendard"/>
              </a:rPr>
              <a:t>핵심 가치</a:t>
            </a:r>
            <a:endParaRPr lang="en-US" sz="160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222772-315A-3862-ECD8-2D2A588C590B}"/>
              </a:ext>
            </a:extLst>
          </p:cNvPr>
          <p:cNvSpPr/>
          <p:nvPr/>
        </p:nvSpPr>
        <p:spPr>
          <a:xfrm>
            <a:off x="1027176" y="3054866"/>
            <a:ext cx="889000" cy="482600"/>
          </a:xfrm>
          <a:prstGeom prst="rect">
            <a:avLst/>
          </a:prstGeom>
          <a:solidFill>
            <a:srgbClr val="FDF0E6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7A8595-59DD-9B84-E825-0E580C9ED1E0}"/>
              </a:ext>
            </a:extLst>
          </p:cNvPr>
          <p:cNvSpPr txBox="1"/>
          <p:nvPr/>
        </p:nvSpPr>
        <p:spPr>
          <a:xfrm>
            <a:off x="1230376" y="3169166"/>
            <a:ext cx="482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B85A1E"/>
                </a:solidFill>
                <a:latin typeface="Consolas" panose="020B0609020204030204" pitchFamily="49" charset="0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852E86-633B-3A47-0A2D-6039AFD475EA}"/>
              </a:ext>
            </a:extLst>
          </p:cNvPr>
          <p:cNvSpPr txBox="1"/>
          <p:nvPr/>
        </p:nvSpPr>
        <p:spPr>
          <a:xfrm>
            <a:off x="2246376" y="3105666"/>
            <a:ext cx="330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2D2926"/>
                </a:solidFill>
                <a:latin typeface="Pretendard"/>
              </a:rPr>
              <a:t>요구사항 및 설계</a:t>
            </a:r>
            <a:endParaRPr lang="en-US" sz="160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652571-D0E5-CB65-A901-EFD33F626BDB}"/>
              </a:ext>
            </a:extLst>
          </p:cNvPr>
          <p:cNvSpPr txBox="1"/>
          <p:nvPr/>
        </p:nvSpPr>
        <p:spPr>
          <a:xfrm>
            <a:off x="2246376" y="3385066"/>
            <a:ext cx="571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6B6360"/>
                </a:solidFill>
                <a:latin typeface="Pretendard"/>
              </a:rPr>
              <a:t>Use-Case, </a:t>
            </a:r>
            <a:r>
              <a:rPr lang="ko-KR" altLang="en-US" sz="1600">
                <a:solidFill>
                  <a:srgbClr val="6B6360"/>
                </a:solidFill>
                <a:latin typeface="Pretendard"/>
              </a:rPr>
              <a:t>클래스</a:t>
            </a:r>
            <a:r>
              <a:rPr lang="en-US" altLang="ko-KR" sz="1600">
                <a:solidFill>
                  <a:srgbClr val="6B6360"/>
                </a:solidFill>
                <a:latin typeface="Pretendard"/>
              </a:rPr>
              <a:t>, </a:t>
            </a:r>
            <a:r>
              <a:rPr lang="en-US" sz="1600">
                <a:solidFill>
                  <a:srgbClr val="6B6360"/>
                </a:solidFill>
                <a:latin typeface="Pretendard"/>
              </a:rPr>
              <a:t>ERD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8C9DD8-882E-3EB0-2CAB-5660510D5D44}"/>
              </a:ext>
            </a:extLst>
          </p:cNvPr>
          <p:cNvSpPr/>
          <p:nvPr/>
        </p:nvSpPr>
        <p:spPr>
          <a:xfrm>
            <a:off x="1027176" y="4078645"/>
            <a:ext cx="889000" cy="482600"/>
          </a:xfrm>
          <a:prstGeom prst="rect">
            <a:avLst/>
          </a:prstGeom>
          <a:solidFill>
            <a:srgbClr val="FDF0E6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B78367-5190-2E3C-9D38-4B1B5040C02F}"/>
              </a:ext>
            </a:extLst>
          </p:cNvPr>
          <p:cNvSpPr txBox="1"/>
          <p:nvPr/>
        </p:nvSpPr>
        <p:spPr>
          <a:xfrm>
            <a:off x="1230376" y="4192945"/>
            <a:ext cx="482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B85A1E"/>
                </a:solidFill>
                <a:latin typeface="Consolas" panose="020B0609020204030204" pitchFamily="49" charset="0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2B972A-2D5C-DE62-9DF7-15EADD16EED8}"/>
              </a:ext>
            </a:extLst>
          </p:cNvPr>
          <p:cNvSpPr txBox="1"/>
          <p:nvPr/>
        </p:nvSpPr>
        <p:spPr>
          <a:xfrm>
            <a:off x="2246376" y="4129445"/>
            <a:ext cx="330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2D2926"/>
                </a:solidFill>
                <a:latin typeface="Pretendard"/>
              </a:rPr>
              <a:t>구현 화면</a:t>
            </a:r>
            <a:endParaRPr lang="en-US" sz="160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4A2D20-46C7-7797-ADC0-E252C668D598}"/>
              </a:ext>
            </a:extLst>
          </p:cNvPr>
          <p:cNvSpPr txBox="1"/>
          <p:nvPr/>
        </p:nvSpPr>
        <p:spPr>
          <a:xfrm>
            <a:off x="2246376" y="4408845"/>
            <a:ext cx="571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>
                <a:solidFill>
                  <a:srgbClr val="6B6360"/>
                </a:solidFill>
                <a:latin typeface="Pretendard"/>
              </a:rPr>
              <a:t>최신 산출물 기준 주요 화면</a:t>
            </a:r>
            <a:endParaRPr lang="en-US" sz="160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59CBC1-A2C0-5825-6A8E-5EF8B81A7E4C}"/>
              </a:ext>
            </a:extLst>
          </p:cNvPr>
          <p:cNvSpPr/>
          <p:nvPr/>
        </p:nvSpPr>
        <p:spPr>
          <a:xfrm>
            <a:off x="6132576" y="2075934"/>
            <a:ext cx="889000" cy="482600"/>
          </a:xfrm>
          <a:prstGeom prst="rect">
            <a:avLst/>
          </a:prstGeom>
          <a:solidFill>
            <a:srgbClr val="FDF0E6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DFFB7F-5C60-ED7D-2AEE-E40FF170CDA5}"/>
              </a:ext>
            </a:extLst>
          </p:cNvPr>
          <p:cNvSpPr txBox="1"/>
          <p:nvPr/>
        </p:nvSpPr>
        <p:spPr>
          <a:xfrm>
            <a:off x="6335776" y="2190234"/>
            <a:ext cx="482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B85A1E"/>
                </a:solidFill>
                <a:latin typeface="Consolas" panose="020B0609020204030204" pitchFamily="49" charset="0"/>
              </a:rPr>
              <a:t>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931E6B-BE78-3E93-8A5F-44E1D194C863}"/>
              </a:ext>
            </a:extLst>
          </p:cNvPr>
          <p:cNvSpPr txBox="1"/>
          <p:nvPr/>
        </p:nvSpPr>
        <p:spPr>
          <a:xfrm>
            <a:off x="7351776" y="2126734"/>
            <a:ext cx="330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2D2926"/>
                </a:solidFill>
                <a:latin typeface="Pretendard"/>
              </a:rPr>
              <a:t>기술 구현</a:t>
            </a:r>
            <a:endParaRPr lang="en-US" sz="160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5AA4C8-456A-3EDE-B927-9CADE2915286}"/>
              </a:ext>
            </a:extLst>
          </p:cNvPr>
          <p:cNvSpPr txBox="1"/>
          <p:nvPr/>
        </p:nvSpPr>
        <p:spPr>
          <a:xfrm>
            <a:off x="7351776" y="2406134"/>
            <a:ext cx="5715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>
                <a:solidFill>
                  <a:srgbClr val="6B6360"/>
                </a:solidFill>
                <a:latin typeface="Pretendard"/>
              </a:rPr>
              <a:t>아키텍처</a:t>
            </a:r>
            <a:r>
              <a:rPr lang="en-US" altLang="ko-KR" sz="160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1600">
                <a:solidFill>
                  <a:srgbClr val="6B6360"/>
                </a:solidFill>
                <a:latin typeface="Pretendard"/>
              </a:rPr>
              <a:t>추천 알고리즘</a:t>
            </a:r>
            <a:r>
              <a:rPr lang="en-US" altLang="ko-KR" sz="1600">
                <a:solidFill>
                  <a:srgbClr val="6B6360"/>
                </a:solidFill>
                <a:latin typeface="Pretendard"/>
              </a:rPr>
              <a:t>, AI</a:t>
            </a:r>
            <a:endParaRPr lang="en-US" sz="160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DB9658-947C-C8F7-919D-A49EFEA7EB09}"/>
              </a:ext>
            </a:extLst>
          </p:cNvPr>
          <p:cNvSpPr/>
          <p:nvPr/>
        </p:nvSpPr>
        <p:spPr>
          <a:xfrm>
            <a:off x="6132576" y="3054866"/>
            <a:ext cx="889000" cy="482600"/>
          </a:xfrm>
          <a:prstGeom prst="rect">
            <a:avLst/>
          </a:prstGeom>
          <a:solidFill>
            <a:srgbClr val="FDF0E6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ED4F27-1769-FA00-E31B-85AA4575A9EC}"/>
              </a:ext>
            </a:extLst>
          </p:cNvPr>
          <p:cNvSpPr txBox="1"/>
          <p:nvPr/>
        </p:nvSpPr>
        <p:spPr>
          <a:xfrm>
            <a:off x="6335776" y="3169166"/>
            <a:ext cx="482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B85A1E"/>
                </a:solidFill>
                <a:latin typeface="Consolas" panose="020B0609020204030204" pitchFamily="49" charset="0"/>
              </a:rPr>
              <a:t>05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0A87B3-8A20-6167-3F94-B737F150FC69}"/>
              </a:ext>
            </a:extLst>
          </p:cNvPr>
          <p:cNvSpPr txBox="1"/>
          <p:nvPr/>
        </p:nvSpPr>
        <p:spPr>
          <a:xfrm>
            <a:off x="7351776" y="3105666"/>
            <a:ext cx="330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b="1" dirty="0">
                <a:solidFill>
                  <a:srgbClr val="2D2926"/>
                </a:solidFill>
                <a:latin typeface="Pretendard"/>
              </a:rPr>
              <a:t>결과 및 마무리</a:t>
            </a:r>
            <a:endParaRPr lang="en-US" sz="1600" b="1" dirty="0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423D80-53C3-06AC-D18D-5F769EC94A49}"/>
              </a:ext>
            </a:extLst>
          </p:cNvPr>
          <p:cNvSpPr txBox="1"/>
          <p:nvPr/>
        </p:nvSpPr>
        <p:spPr>
          <a:xfrm>
            <a:off x="7351776" y="3380653"/>
            <a:ext cx="5715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600" dirty="0">
                <a:solidFill>
                  <a:srgbClr val="6B6360"/>
                </a:solidFill>
                <a:latin typeface="Pretendard"/>
              </a:rPr>
              <a:t>성과</a:t>
            </a:r>
            <a:r>
              <a:rPr lang="en-US" altLang="ko-KR" sz="1600" dirty="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1600" dirty="0">
                <a:solidFill>
                  <a:srgbClr val="6B6360"/>
                </a:solidFill>
                <a:latin typeface="Pretendard"/>
              </a:rPr>
              <a:t>협업</a:t>
            </a:r>
            <a:r>
              <a:rPr lang="en-US" altLang="ko-KR" sz="1600" dirty="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1600" dirty="0">
                <a:solidFill>
                  <a:srgbClr val="6B6360"/>
                </a:solidFill>
                <a:latin typeface="Pretendard"/>
              </a:rPr>
              <a:t>향후 보완</a:t>
            </a:r>
            <a:endParaRPr lang="en-US" sz="1600" dirty="0">
              <a:solidFill>
                <a:srgbClr val="6B6360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9763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EC7C09-9C11-EA8A-79B1-BEBFF0AAC8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45555E-2A49-0082-8F3E-36B2636223F2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5DC181-753E-B1E6-37D4-C5D4DC3B9B33}"/>
              </a:ext>
            </a:extLst>
          </p:cNvPr>
          <p:cNvSpPr txBox="1"/>
          <p:nvPr/>
        </p:nvSpPr>
        <p:spPr>
          <a:xfrm>
            <a:off x="457200" y="215900"/>
            <a:ext cx="2413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01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6EBBB6-90F4-0F79-9378-E1BCDEF72BC0}"/>
              </a:ext>
            </a:extLst>
          </p:cNvPr>
          <p:cNvSpPr txBox="1"/>
          <p:nvPr/>
        </p:nvSpPr>
        <p:spPr>
          <a:xfrm>
            <a:off x="457200" y="965200"/>
            <a:ext cx="863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프로젝트 개요</a:t>
            </a:r>
            <a:endParaRPr lang="en-US" sz="2400" b="1">
              <a:solidFill>
                <a:srgbClr val="2D2926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4CB90F-E942-14EE-E4BD-3F86E7316DDC}"/>
              </a:ext>
            </a:extLst>
          </p:cNvPr>
          <p:cNvSpPr/>
          <p:nvPr/>
        </p:nvSpPr>
        <p:spPr>
          <a:xfrm>
            <a:off x="457200" y="1473200"/>
            <a:ext cx="11277600" cy="25400"/>
          </a:xfrm>
          <a:prstGeom prst="rect">
            <a:avLst/>
          </a:prstGeom>
          <a:solidFill>
            <a:srgbClr val="E4DD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1B9B7D-7C83-22E0-703C-E7EBFF034809}"/>
              </a:ext>
            </a:extLst>
          </p:cNvPr>
          <p:cNvSpPr txBox="1"/>
          <p:nvPr/>
        </p:nvSpPr>
        <p:spPr>
          <a:xfrm>
            <a:off x="9474200" y="215900"/>
            <a:ext cx="2260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ko-KR" altLang="en-US" sz="800">
                <a:solidFill>
                  <a:srgbClr val="FFFFFF"/>
                </a:solidFill>
                <a:latin typeface="Consolas" panose="020B0609020204030204" pitchFamily="49" charset="0"/>
              </a:rPr>
              <a:t>가당 </a:t>
            </a:r>
            <a:r>
              <a:rPr lang="en-US" sz="800">
                <a:solidFill>
                  <a:srgbClr val="FFFFFF"/>
                </a:solidFill>
                <a:latin typeface="Consolas" panose="020B0609020204030204" pitchFamily="49" charset="0"/>
              </a:rPr>
              <a:t>final 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DB8475-B328-2360-8CD4-AB09D483CF0B}"/>
              </a:ext>
            </a:extLst>
          </p:cNvPr>
          <p:cNvSpPr txBox="1"/>
          <p:nvPr/>
        </p:nvSpPr>
        <p:spPr>
          <a:xfrm>
            <a:off x="11290300" y="6388100"/>
            <a:ext cx="444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6B6360"/>
                </a:solidFill>
                <a:latin typeface="Consolas" panose="020B0609020204030204" pitchFamily="49" charset="0"/>
              </a:rPr>
              <a:t>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0A522D-2C2B-8E64-44A5-FE5F9703F145}"/>
              </a:ext>
            </a:extLst>
          </p:cNvPr>
          <p:cNvSpPr/>
          <p:nvPr/>
        </p:nvSpPr>
        <p:spPr>
          <a:xfrm>
            <a:off x="762000" y="1905000"/>
            <a:ext cx="4953000" cy="12065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254D4F-2523-8B68-DAD7-DE96081F1E5F}"/>
              </a:ext>
            </a:extLst>
          </p:cNvPr>
          <p:cNvSpPr/>
          <p:nvPr/>
        </p:nvSpPr>
        <p:spPr>
          <a:xfrm>
            <a:off x="762000" y="1905000"/>
            <a:ext cx="63500" cy="1206500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02B425-DF95-B60E-F79D-D2ED6C07C95F}"/>
              </a:ext>
            </a:extLst>
          </p:cNvPr>
          <p:cNvSpPr txBox="1"/>
          <p:nvPr/>
        </p:nvSpPr>
        <p:spPr>
          <a:xfrm>
            <a:off x="965200" y="2057400"/>
            <a:ext cx="4572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서비스 정의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B9DF9E-0174-F897-C8CD-DC666BED93F5}"/>
              </a:ext>
            </a:extLst>
          </p:cNvPr>
          <p:cNvSpPr txBox="1"/>
          <p:nvPr/>
        </p:nvSpPr>
        <p:spPr>
          <a:xfrm>
            <a:off x="965200" y="2387600"/>
            <a:ext cx="45720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50">
                <a:solidFill>
                  <a:srgbClr val="6B6360"/>
                </a:solidFill>
                <a:latin typeface="Pretendard"/>
              </a:rPr>
              <a:t>가당은 당일치기 여행을 계획하는 사용자가 출발지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시간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예산을 입력하면 이동 가능 지역과 최적 코스를 추천하는 플랫폼입니다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.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9E7594-5682-15B5-A830-EE57CA13997F}"/>
              </a:ext>
            </a:extLst>
          </p:cNvPr>
          <p:cNvSpPr/>
          <p:nvPr/>
        </p:nvSpPr>
        <p:spPr>
          <a:xfrm>
            <a:off x="762000" y="3403600"/>
            <a:ext cx="4953000" cy="12065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82EC42-96FC-69D9-316D-E0746CD41C44}"/>
              </a:ext>
            </a:extLst>
          </p:cNvPr>
          <p:cNvSpPr/>
          <p:nvPr/>
        </p:nvSpPr>
        <p:spPr>
          <a:xfrm>
            <a:off x="762000" y="3403600"/>
            <a:ext cx="63500" cy="1206500"/>
          </a:xfrm>
          <a:prstGeom prst="rect">
            <a:avLst/>
          </a:prstGeom>
          <a:solidFill>
            <a:srgbClr val="3F75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C62B84-DD86-8135-3215-CB38BEF8C59A}"/>
              </a:ext>
            </a:extLst>
          </p:cNvPr>
          <p:cNvSpPr txBox="1"/>
          <p:nvPr/>
        </p:nvSpPr>
        <p:spPr>
          <a:xfrm>
            <a:off x="965200" y="3556000"/>
            <a:ext cx="4572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핵심 데이터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58E0CD-425B-71D7-5B37-9F3F3DD93002}"/>
              </a:ext>
            </a:extLst>
          </p:cNvPr>
          <p:cNvSpPr txBox="1"/>
          <p:nvPr/>
        </p:nvSpPr>
        <p:spPr>
          <a:xfrm>
            <a:off x="965200" y="3886200"/>
            <a:ext cx="45720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6B6360"/>
                </a:solidFill>
                <a:latin typeface="Pretendard"/>
              </a:rPr>
              <a:t>Kakao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장소 데이터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Naver DataLab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트렌드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TourAPI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이미지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TAGO/ODsay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교통 정보를 결합해 추천 품질을 높였습니다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.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EA6CCB-D515-5D79-B687-E19F8A88C01E}"/>
              </a:ext>
            </a:extLst>
          </p:cNvPr>
          <p:cNvSpPr/>
          <p:nvPr/>
        </p:nvSpPr>
        <p:spPr>
          <a:xfrm>
            <a:off x="762000" y="4902200"/>
            <a:ext cx="4953000" cy="12065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8DB971-AF30-B71C-49BB-89B9EFB8E712}"/>
              </a:ext>
            </a:extLst>
          </p:cNvPr>
          <p:cNvSpPr/>
          <p:nvPr/>
        </p:nvSpPr>
        <p:spPr>
          <a:xfrm>
            <a:off x="762000" y="4902200"/>
            <a:ext cx="63500" cy="1206500"/>
          </a:xfrm>
          <a:prstGeom prst="rect">
            <a:avLst/>
          </a:prstGeom>
          <a:solidFill>
            <a:srgbClr val="3A9A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61AF7F-3F05-093C-5912-6A8E15DF2DB6}"/>
              </a:ext>
            </a:extLst>
          </p:cNvPr>
          <p:cNvSpPr txBox="1"/>
          <p:nvPr/>
        </p:nvSpPr>
        <p:spPr>
          <a:xfrm>
            <a:off x="965200" y="5054600"/>
            <a:ext cx="4572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주요 가치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57FD11-8A55-BD34-A4C7-D2CB66E2FA0E}"/>
              </a:ext>
            </a:extLst>
          </p:cNvPr>
          <p:cNvSpPr txBox="1"/>
          <p:nvPr/>
        </p:nvSpPr>
        <p:spPr>
          <a:xfrm>
            <a:off x="965200" y="5384800"/>
            <a:ext cx="45720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50">
                <a:solidFill>
                  <a:srgbClr val="6B6360"/>
                </a:solidFill>
                <a:latin typeface="Pretendard"/>
              </a:rPr>
              <a:t>교통비와 입장료는 확정값으로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식비는 추정값으로 분리해 실제 계획에 가까운 비용 판단을 지원합니다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.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7C35AD-038A-E196-7D32-1F425F249D00}"/>
              </a:ext>
            </a:extLst>
          </p:cNvPr>
          <p:cNvSpPr txBox="1"/>
          <p:nvPr/>
        </p:nvSpPr>
        <p:spPr>
          <a:xfrm>
            <a:off x="6718300" y="5576808"/>
            <a:ext cx="457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rgbClr val="6B6360"/>
                </a:solidFill>
                <a:latin typeface="Pretendard"/>
              </a:rPr>
              <a:t>최신 홈 화면 기준</a:t>
            </a:r>
            <a:r>
              <a:rPr lang="en-US" altLang="ko-KR" sz="1000" dirty="0">
                <a:solidFill>
                  <a:srgbClr val="6B6360"/>
                </a:solidFill>
                <a:latin typeface="Pretendard"/>
              </a:rPr>
              <a:t>: </a:t>
            </a:r>
            <a:r>
              <a:rPr lang="ko-KR" altLang="en-US" sz="1000" dirty="0">
                <a:solidFill>
                  <a:srgbClr val="6B6360"/>
                </a:solidFill>
                <a:latin typeface="Pretendard"/>
              </a:rPr>
              <a:t>조건 입력</a:t>
            </a:r>
            <a:r>
              <a:rPr lang="en-US" altLang="ko-KR" sz="1000" dirty="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1000" dirty="0">
                <a:solidFill>
                  <a:srgbClr val="6B6360"/>
                </a:solidFill>
                <a:latin typeface="Pretendard"/>
              </a:rPr>
              <a:t>추천 지역</a:t>
            </a:r>
            <a:r>
              <a:rPr lang="en-US" altLang="ko-KR" sz="1000" dirty="0">
                <a:solidFill>
                  <a:srgbClr val="6B6360"/>
                </a:solidFill>
                <a:latin typeface="Pretendard"/>
              </a:rPr>
              <a:t>, AI </a:t>
            </a:r>
            <a:r>
              <a:rPr lang="ko-KR" altLang="en-US" sz="1000" dirty="0">
                <a:solidFill>
                  <a:srgbClr val="6B6360"/>
                </a:solidFill>
                <a:latin typeface="Pretendard"/>
              </a:rPr>
              <a:t>진입점을 한 화면에서 제공</a:t>
            </a:r>
            <a:endParaRPr lang="en-US" sz="1000" dirty="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D0B07D3-51C9-7181-C93A-AC7A38C617E4}"/>
              </a:ext>
            </a:extLst>
          </p:cNvPr>
          <p:cNvSpPr/>
          <p:nvPr/>
        </p:nvSpPr>
        <p:spPr>
          <a:xfrm>
            <a:off x="6096000" y="1876374"/>
            <a:ext cx="5399278" cy="3327872"/>
          </a:xfrm>
          <a:prstGeom prst="rect">
            <a:avLst/>
          </a:prstGeom>
          <a:solidFill>
            <a:srgbClr val="FFFFFF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DC554DB-962B-7B8A-7DCE-F36BF5C63E2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973" y="1933311"/>
            <a:ext cx="5304315" cy="322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25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F830FF-6AA1-5314-5CEF-200B20E5AA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A9B175-3057-5908-9238-0E9FC0420BDE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4A2F7B-1E14-75F3-275F-DA48AD9FC57B}"/>
              </a:ext>
            </a:extLst>
          </p:cNvPr>
          <p:cNvSpPr txBox="1"/>
          <p:nvPr/>
        </p:nvSpPr>
        <p:spPr>
          <a:xfrm>
            <a:off x="457200" y="215900"/>
            <a:ext cx="2413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02 REQUIREMENTS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74A999-B763-D39A-3687-DCC5D94C8958}"/>
              </a:ext>
            </a:extLst>
          </p:cNvPr>
          <p:cNvSpPr txBox="1"/>
          <p:nvPr/>
        </p:nvSpPr>
        <p:spPr>
          <a:xfrm>
            <a:off x="457200" y="965200"/>
            <a:ext cx="863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요구사항 요약</a:t>
            </a:r>
            <a:endParaRPr lang="en-US" sz="2400" b="1">
              <a:solidFill>
                <a:srgbClr val="2D2926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97F706-AAF0-D3DC-4742-E401EBECC00C}"/>
              </a:ext>
            </a:extLst>
          </p:cNvPr>
          <p:cNvSpPr/>
          <p:nvPr/>
        </p:nvSpPr>
        <p:spPr>
          <a:xfrm>
            <a:off x="457200" y="1473200"/>
            <a:ext cx="11277600" cy="25400"/>
          </a:xfrm>
          <a:prstGeom prst="rect">
            <a:avLst/>
          </a:prstGeom>
          <a:solidFill>
            <a:srgbClr val="E4DD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7D86BC-3BE1-F2D5-0ED1-7DB449EF0DAA}"/>
              </a:ext>
            </a:extLst>
          </p:cNvPr>
          <p:cNvSpPr txBox="1"/>
          <p:nvPr/>
        </p:nvSpPr>
        <p:spPr>
          <a:xfrm>
            <a:off x="9474200" y="215900"/>
            <a:ext cx="2260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ko-KR" altLang="en-US" sz="800">
                <a:solidFill>
                  <a:srgbClr val="FFFFFF"/>
                </a:solidFill>
                <a:latin typeface="Consolas" panose="020B0609020204030204" pitchFamily="49" charset="0"/>
              </a:rPr>
              <a:t>가당 </a:t>
            </a:r>
            <a:r>
              <a:rPr lang="en-US" sz="800">
                <a:solidFill>
                  <a:srgbClr val="FFFFFF"/>
                </a:solidFill>
                <a:latin typeface="Consolas" panose="020B0609020204030204" pitchFamily="49" charset="0"/>
              </a:rPr>
              <a:t>final 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8335A6-F9FB-3FD7-BB6B-EB80C4DD0518}"/>
              </a:ext>
            </a:extLst>
          </p:cNvPr>
          <p:cNvSpPr txBox="1"/>
          <p:nvPr/>
        </p:nvSpPr>
        <p:spPr>
          <a:xfrm>
            <a:off x="11290300" y="6388100"/>
            <a:ext cx="444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6B6360"/>
                </a:solidFill>
                <a:latin typeface="Consolas" panose="020B0609020204030204" pitchFamily="49" charset="0"/>
              </a:rPr>
              <a:t>04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C26999-48EE-8412-8907-05907B439B9D}"/>
              </a:ext>
            </a:extLst>
          </p:cNvPr>
          <p:cNvSpPr/>
          <p:nvPr/>
        </p:nvSpPr>
        <p:spPr>
          <a:xfrm>
            <a:off x="740664" y="2195612"/>
            <a:ext cx="1670304" cy="546100"/>
          </a:xfrm>
          <a:prstGeom prst="rect">
            <a:avLst/>
          </a:prstGeom>
          <a:solidFill>
            <a:srgbClr val="D97035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C58E7E-C1C8-92E7-562A-F2D815731EB1}"/>
              </a:ext>
            </a:extLst>
          </p:cNvPr>
          <p:cNvSpPr txBox="1"/>
          <p:nvPr/>
        </p:nvSpPr>
        <p:spPr>
          <a:xfrm>
            <a:off x="816864" y="2297212"/>
            <a:ext cx="1517904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구분</a:t>
            </a:r>
            <a:endParaRPr lang="en-US" sz="1200" b="1">
              <a:solidFill>
                <a:srgbClr val="FFFFFF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74007D-A36C-CEED-1028-90BB719E903E}"/>
              </a:ext>
            </a:extLst>
          </p:cNvPr>
          <p:cNvSpPr/>
          <p:nvPr/>
        </p:nvSpPr>
        <p:spPr>
          <a:xfrm>
            <a:off x="2410968" y="2195612"/>
            <a:ext cx="2644648" cy="546100"/>
          </a:xfrm>
          <a:prstGeom prst="rect">
            <a:avLst/>
          </a:prstGeom>
          <a:solidFill>
            <a:srgbClr val="D97035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1A2DF9-84FF-997A-5779-D5EC6F74543E}"/>
              </a:ext>
            </a:extLst>
          </p:cNvPr>
          <p:cNvSpPr txBox="1"/>
          <p:nvPr/>
        </p:nvSpPr>
        <p:spPr>
          <a:xfrm>
            <a:off x="2487168" y="2297212"/>
            <a:ext cx="2492248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내용</a:t>
            </a:r>
            <a:endParaRPr lang="en-US" sz="1200" b="1">
              <a:solidFill>
                <a:srgbClr val="FFFFFF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725095-F952-A9B3-8FB2-8322DF56407D}"/>
              </a:ext>
            </a:extLst>
          </p:cNvPr>
          <p:cNvSpPr/>
          <p:nvPr/>
        </p:nvSpPr>
        <p:spPr>
          <a:xfrm>
            <a:off x="5055616" y="2195612"/>
            <a:ext cx="2644648" cy="546100"/>
          </a:xfrm>
          <a:prstGeom prst="rect">
            <a:avLst/>
          </a:prstGeom>
          <a:solidFill>
            <a:srgbClr val="D97035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5150D6-EF69-BF39-9508-420AC9757FA9}"/>
              </a:ext>
            </a:extLst>
          </p:cNvPr>
          <p:cNvSpPr txBox="1"/>
          <p:nvPr/>
        </p:nvSpPr>
        <p:spPr>
          <a:xfrm>
            <a:off x="5131816" y="2297212"/>
            <a:ext cx="2492248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산출</a:t>
            </a:r>
            <a:endParaRPr lang="en-US" sz="1200" b="1">
              <a:solidFill>
                <a:srgbClr val="FFFFFF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8498E5-9171-3458-7B92-C927CF11D026}"/>
              </a:ext>
            </a:extLst>
          </p:cNvPr>
          <p:cNvSpPr/>
          <p:nvPr/>
        </p:nvSpPr>
        <p:spPr>
          <a:xfrm>
            <a:off x="740664" y="2741712"/>
            <a:ext cx="1670304" cy="5461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9F42D0-31F9-A484-94C2-B5873E03AC9C}"/>
              </a:ext>
            </a:extLst>
          </p:cNvPr>
          <p:cNvSpPr txBox="1"/>
          <p:nvPr/>
        </p:nvSpPr>
        <p:spPr>
          <a:xfrm>
            <a:off x="829564" y="2830612"/>
            <a:ext cx="1492504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회원</a:t>
            </a:r>
            <a:endParaRPr lang="en-US" sz="1200">
              <a:solidFill>
                <a:srgbClr val="2D2926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644ABC-44F6-51B2-1F96-A93874DAE91C}"/>
              </a:ext>
            </a:extLst>
          </p:cNvPr>
          <p:cNvSpPr/>
          <p:nvPr/>
        </p:nvSpPr>
        <p:spPr>
          <a:xfrm>
            <a:off x="2410968" y="2741712"/>
            <a:ext cx="2644648" cy="5461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5F88A1-D882-E09D-DFD1-06F599231206}"/>
              </a:ext>
            </a:extLst>
          </p:cNvPr>
          <p:cNvSpPr txBox="1"/>
          <p:nvPr/>
        </p:nvSpPr>
        <p:spPr>
          <a:xfrm>
            <a:off x="2499868" y="2830612"/>
            <a:ext cx="2466848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회원가입</a:t>
            </a:r>
            <a:r>
              <a:rPr lang="en-US" altLang="ko-KR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로그인</a:t>
            </a:r>
            <a:r>
              <a:rPr lang="en-US" altLang="ko-KR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소셜 로그인</a:t>
            </a:r>
            <a:r>
              <a:rPr lang="en-US" altLang="ko-KR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JWT </a:t>
            </a:r>
            <a:r>
              <a:rPr lang="ko-KR" alt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인증</a:t>
            </a:r>
            <a:endParaRPr lang="en-US" sz="1200">
              <a:solidFill>
                <a:srgbClr val="2D2926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884A5E-69C9-78B8-DCA1-672C28E959F0}"/>
              </a:ext>
            </a:extLst>
          </p:cNvPr>
          <p:cNvSpPr/>
          <p:nvPr/>
        </p:nvSpPr>
        <p:spPr>
          <a:xfrm>
            <a:off x="5055616" y="2741712"/>
            <a:ext cx="2644648" cy="5461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B9D117-18FE-602D-7675-1FC4FAFB3D99}"/>
              </a:ext>
            </a:extLst>
          </p:cNvPr>
          <p:cNvSpPr txBox="1"/>
          <p:nvPr/>
        </p:nvSpPr>
        <p:spPr>
          <a:xfrm>
            <a:off x="5144516" y="2830612"/>
            <a:ext cx="2466848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FR-01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17833A-D6DB-1A74-20DB-F80E2930112C}"/>
              </a:ext>
            </a:extLst>
          </p:cNvPr>
          <p:cNvSpPr/>
          <p:nvPr/>
        </p:nvSpPr>
        <p:spPr>
          <a:xfrm>
            <a:off x="740664" y="3287812"/>
            <a:ext cx="1670304" cy="546100"/>
          </a:xfrm>
          <a:prstGeom prst="rect">
            <a:avLst/>
          </a:prstGeom>
          <a:solidFill>
            <a:srgbClr val="FFFFFF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8C8B6E-8DFC-3525-1BF7-613931B3E3B7}"/>
              </a:ext>
            </a:extLst>
          </p:cNvPr>
          <p:cNvSpPr txBox="1"/>
          <p:nvPr/>
        </p:nvSpPr>
        <p:spPr>
          <a:xfrm>
            <a:off x="829564" y="3376712"/>
            <a:ext cx="1492504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여행</a:t>
            </a:r>
            <a:endParaRPr lang="en-US" sz="1200">
              <a:solidFill>
                <a:srgbClr val="2D2926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9BCBD3-8ECC-96FF-4029-F70660A99747}"/>
              </a:ext>
            </a:extLst>
          </p:cNvPr>
          <p:cNvSpPr/>
          <p:nvPr/>
        </p:nvSpPr>
        <p:spPr>
          <a:xfrm>
            <a:off x="2410968" y="3287812"/>
            <a:ext cx="2644648" cy="546100"/>
          </a:xfrm>
          <a:prstGeom prst="rect">
            <a:avLst/>
          </a:prstGeom>
          <a:solidFill>
            <a:srgbClr val="FFFFFF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B6063F-EEE1-EA5C-D271-2BCCD5EA03ED}"/>
              </a:ext>
            </a:extLst>
          </p:cNvPr>
          <p:cNvSpPr txBox="1"/>
          <p:nvPr/>
        </p:nvSpPr>
        <p:spPr>
          <a:xfrm>
            <a:off x="2499868" y="3376712"/>
            <a:ext cx="2466848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지역 추천</a:t>
            </a:r>
            <a:r>
              <a:rPr lang="en-US" altLang="ko-KR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장소 검색</a:t>
            </a:r>
            <a:r>
              <a:rPr lang="en-US" altLang="ko-KR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코스 생성</a:t>
            </a:r>
            <a:r>
              <a:rPr lang="en-US" altLang="ko-KR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일정 저장</a:t>
            </a:r>
            <a:endParaRPr lang="en-US" sz="1200">
              <a:solidFill>
                <a:srgbClr val="2D2926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011584C-44E4-A474-367E-AFC9EA01716F}"/>
              </a:ext>
            </a:extLst>
          </p:cNvPr>
          <p:cNvSpPr/>
          <p:nvPr/>
        </p:nvSpPr>
        <p:spPr>
          <a:xfrm>
            <a:off x="5055616" y="3287812"/>
            <a:ext cx="2644648" cy="546100"/>
          </a:xfrm>
          <a:prstGeom prst="rect">
            <a:avLst/>
          </a:prstGeom>
          <a:solidFill>
            <a:srgbClr val="FFFFFF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7374E7-5B2D-AD3C-6C52-D6C013C034FA}"/>
              </a:ext>
            </a:extLst>
          </p:cNvPr>
          <p:cNvSpPr txBox="1"/>
          <p:nvPr/>
        </p:nvSpPr>
        <p:spPr>
          <a:xfrm>
            <a:off x="5144516" y="3376712"/>
            <a:ext cx="2466848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FR-02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A52740-42D6-08C8-EEAE-DCAE2955F3FE}"/>
              </a:ext>
            </a:extLst>
          </p:cNvPr>
          <p:cNvSpPr/>
          <p:nvPr/>
        </p:nvSpPr>
        <p:spPr>
          <a:xfrm>
            <a:off x="740664" y="3833912"/>
            <a:ext cx="1670304" cy="5461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F0C3D1-163B-DF88-37FE-B258AD592A9A}"/>
              </a:ext>
            </a:extLst>
          </p:cNvPr>
          <p:cNvSpPr txBox="1"/>
          <p:nvPr/>
        </p:nvSpPr>
        <p:spPr>
          <a:xfrm>
            <a:off x="829564" y="3922812"/>
            <a:ext cx="1492504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커뮤니티</a:t>
            </a:r>
            <a:endParaRPr lang="en-US" sz="1200">
              <a:solidFill>
                <a:srgbClr val="2D2926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CAA688-9E03-5574-3050-D1024F0B3000}"/>
              </a:ext>
            </a:extLst>
          </p:cNvPr>
          <p:cNvSpPr/>
          <p:nvPr/>
        </p:nvSpPr>
        <p:spPr>
          <a:xfrm>
            <a:off x="2410968" y="3833912"/>
            <a:ext cx="2644648" cy="5461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1FF510-0195-27B3-E0F6-EE8AC68025FA}"/>
              </a:ext>
            </a:extLst>
          </p:cNvPr>
          <p:cNvSpPr txBox="1"/>
          <p:nvPr/>
        </p:nvSpPr>
        <p:spPr>
          <a:xfrm>
            <a:off x="2499868" y="3922812"/>
            <a:ext cx="2466848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코스 공유</a:t>
            </a:r>
            <a:r>
              <a:rPr lang="en-US" altLang="ko-KR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댓글</a:t>
            </a:r>
            <a:r>
              <a:rPr lang="en-US" altLang="ko-KR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후기 장소별 비용</a:t>
            </a:r>
            <a:r>
              <a:rPr lang="en-US" altLang="ko-KR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/</a:t>
            </a:r>
            <a:r>
              <a:rPr lang="ko-KR" alt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시간 저장</a:t>
            </a:r>
            <a:endParaRPr lang="en-US" sz="1200">
              <a:solidFill>
                <a:srgbClr val="2D2926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32331A-8435-DE9B-DFC9-2B22FB7F9D7D}"/>
              </a:ext>
            </a:extLst>
          </p:cNvPr>
          <p:cNvSpPr/>
          <p:nvPr/>
        </p:nvSpPr>
        <p:spPr>
          <a:xfrm>
            <a:off x="5055616" y="3833912"/>
            <a:ext cx="2644648" cy="5461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50DBDF-D997-07D8-7D0A-46209E8E4902}"/>
              </a:ext>
            </a:extLst>
          </p:cNvPr>
          <p:cNvSpPr txBox="1"/>
          <p:nvPr/>
        </p:nvSpPr>
        <p:spPr>
          <a:xfrm>
            <a:off x="5144516" y="3922812"/>
            <a:ext cx="2466848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FR-03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C1B044F-72BC-CAC3-565D-A8415932455A}"/>
              </a:ext>
            </a:extLst>
          </p:cNvPr>
          <p:cNvSpPr/>
          <p:nvPr/>
        </p:nvSpPr>
        <p:spPr>
          <a:xfrm>
            <a:off x="740664" y="4380012"/>
            <a:ext cx="1670304" cy="546100"/>
          </a:xfrm>
          <a:prstGeom prst="rect">
            <a:avLst/>
          </a:prstGeom>
          <a:solidFill>
            <a:srgbClr val="FFFFFF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413DEB-178A-C6C1-A9A0-DA3FC674A05A}"/>
              </a:ext>
            </a:extLst>
          </p:cNvPr>
          <p:cNvSpPr txBox="1"/>
          <p:nvPr/>
        </p:nvSpPr>
        <p:spPr>
          <a:xfrm>
            <a:off x="829564" y="4468912"/>
            <a:ext cx="1492504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관리자</a:t>
            </a:r>
            <a:endParaRPr lang="en-US" sz="1200">
              <a:solidFill>
                <a:srgbClr val="2D2926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BFE9CC7-440E-1CCB-66C7-FCEC5638F8A8}"/>
              </a:ext>
            </a:extLst>
          </p:cNvPr>
          <p:cNvSpPr/>
          <p:nvPr/>
        </p:nvSpPr>
        <p:spPr>
          <a:xfrm>
            <a:off x="2410968" y="4380012"/>
            <a:ext cx="2644648" cy="546100"/>
          </a:xfrm>
          <a:prstGeom prst="rect">
            <a:avLst/>
          </a:prstGeom>
          <a:solidFill>
            <a:srgbClr val="FFFFFF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8C9357-8C36-57FB-0C1A-09E4D9FAB3E5}"/>
              </a:ext>
            </a:extLst>
          </p:cNvPr>
          <p:cNvSpPr txBox="1"/>
          <p:nvPr/>
        </p:nvSpPr>
        <p:spPr>
          <a:xfrm>
            <a:off x="2499868" y="4468912"/>
            <a:ext cx="2466848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회원</a:t>
            </a:r>
            <a:r>
              <a:rPr lang="en-US" altLang="ko-KR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공지</a:t>
            </a:r>
            <a:r>
              <a:rPr lang="en-US" altLang="ko-KR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입장료</a:t>
            </a:r>
            <a:r>
              <a:rPr lang="en-US" altLang="ko-KR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블랙리스트</a:t>
            </a:r>
            <a:r>
              <a:rPr lang="en-US" altLang="ko-KR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운영 데이터 관리</a:t>
            </a:r>
            <a:endParaRPr lang="en-US" sz="1200">
              <a:solidFill>
                <a:srgbClr val="2D2926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D91AF90-D6F9-4EB6-8D0C-25EF34E3CAC6}"/>
              </a:ext>
            </a:extLst>
          </p:cNvPr>
          <p:cNvSpPr/>
          <p:nvPr/>
        </p:nvSpPr>
        <p:spPr>
          <a:xfrm>
            <a:off x="5055616" y="4380012"/>
            <a:ext cx="2644648" cy="546100"/>
          </a:xfrm>
          <a:prstGeom prst="rect">
            <a:avLst/>
          </a:prstGeom>
          <a:solidFill>
            <a:srgbClr val="FFFFFF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36E997-E12A-AF93-C0EC-F3FE2F0C601B}"/>
              </a:ext>
            </a:extLst>
          </p:cNvPr>
          <p:cNvSpPr txBox="1"/>
          <p:nvPr/>
        </p:nvSpPr>
        <p:spPr>
          <a:xfrm>
            <a:off x="5144516" y="4468912"/>
            <a:ext cx="2466848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FR-04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44360FC-7999-C42F-4107-899936299EF6}"/>
              </a:ext>
            </a:extLst>
          </p:cNvPr>
          <p:cNvSpPr/>
          <p:nvPr/>
        </p:nvSpPr>
        <p:spPr>
          <a:xfrm>
            <a:off x="740664" y="4926112"/>
            <a:ext cx="1670304" cy="5461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707DED-D567-19FA-4CCC-0A9E4262FDE1}"/>
              </a:ext>
            </a:extLst>
          </p:cNvPr>
          <p:cNvSpPr txBox="1"/>
          <p:nvPr/>
        </p:nvSpPr>
        <p:spPr>
          <a:xfrm>
            <a:off x="829564" y="5015012"/>
            <a:ext cx="1492504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AI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0CDADBB-49C9-B815-849D-170E0EAD3281}"/>
              </a:ext>
            </a:extLst>
          </p:cNvPr>
          <p:cNvSpPr/>
          <p:nvPr/>
        </p:nvSpPr>
        <p:spPr>
          <a:xfrm>
            <a:off x="2410968" y="4926112"/>
            <a:ext cx="2644648" cy="5461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04C6AE-D56D-DA0A-B1BA-798DAA6FCD42}"/>
              </a:ext>
            </a:extLst>
          </p:cNvPr>
          <p:cNvSpPr txBox="1"/>
          <p:nvPr/>
        </p:nvSpPr>
        <p:spPr>
          <a:xfrm>
            <a:off x="2499868" y="5015012"/>
            <a:ext cx="2466848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대화형 추천</a:t>
            </a:r>
            <a:r>
              <a:rPr lang="en-US" altLang="ko-KR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RAG </a:t>
            </a:r>
            <a:r>
              <a:rPr lang="ko-KR" alt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기반 코스 검색</a:t>
            </a:r>
            <a:r>
              <a:rPr lang="en-US" altLang="ko-KR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Tool Calling</a:t>
            </a:r>
            <a:endParaRPr lang="en-US" sz="1200">
              <a:solidFill>
                <a:srgbClr val="2D2926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EE6AC19-C851-BF1B-D2E0-9C1BD0ABD19E}"/>
              </a:ext>
            </a:extLst>
          </p:cNvPr>
          <p:cNvSpPr/>
          <p:nvPr/>
        </p:nvSpPr>
        <p:spPr>
          <a:xfrm>
            <a:off x="5055616" y="4926112"/>
            <a:ext cx="2644648" cy="5461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689E40-BC19-9913-4AC9-D2035EF63C3E}"/>
              </a:ext>
            </a:extLst>
          </p:cNvPr>
          <p:cNvSpPr txBox="1"/>
          <p:nvPr/>
        </p:nvSpPr>
        <p:spPr>
          <a:xfrm>
            <a:off x="5144516" y="5015012"/>
            <a:ext cx="2466848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FR-05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56DB236-0AA6-50C5-C502-97DC8B60F565}"/>
              </a:ext>
            </a:extLst>
          </p:cNvPr>
          <p:cNvSpPr/>
          <p:nvPr/>
        </p:nvSpPr>
        <p:spPr>
          <a:xfrm>
            <a:off x="8436864" y="2195612"/>
            <a:ext cx="2540000" cy="342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687B9B6-F66E-22DC-99F1-10C5DFF0C73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364" y="2654431"/>
            <a:ext cx="2413000" cy="2511362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29AF3D77-404D-B736-4D33-B91A1BC5955B}"/>
              </a:ext>
            </a:extLst>
          </p:cNvPr>
          <p:cNvSpPr txBox="1"/>
          <p:nvPr/>
        </p:nvSpPr>
        <p:spPr>
          <a:xfrm>
            <a:off x="8500364" y="5738912"/>
            <a:ext cx="241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B85A1E"/>
                </a:solidFill>
                <a:latin typeface="Consolas" panose="020B0609020204030204" pitchFamily="49" charset="0"/>
              </a:rPr>
              <a:t>Use-Case Diagram</a:t>
            </a:r>
          </a:p>
        </p:txBody>
      </p:sp>
    </p:spTree>
    <p:extLst>
      <p:ext uri="{BB962C8B-B14F-4D97-AF65-F5344CB8AC3E}">
        <p14:creationId xmlns:p14="http://schemas.microsoft.com/office/powerpoint/2010/main" val="3516238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A9B637-351A-7DF0-7AB1-69FA1DDCEC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875D45-D4F1-49D0-F8FB-3CAEACD3120F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BA78F5-6CD9-5AA0-F506-24DEF7FAE4D2}"/>
              </a:ext>
            </a:extLst>
          </p:cNvPr>
          <p:cNvSpPr txBox="1"/>
          <p:nvPr/>
        </p:nvSpPr>
        <p:spPr>
          <a:xfrm>
            <a:off x="457200" y="215900"/>
            <a:ext cx="2413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02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A81792-C502-4C43-49C4-B37921A07F3A}"/>
              </a:ext>
            </a:extLst>
          </p:cNvPr>
          <p:cNvSpPr txBox="1"/>
          <p:nvPr/>
        </p:nvSpPr>
        <p:spPr>
          <a:xfrm>
            <a:off x="457200" y="965200"/>
            <a:ext cx="863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클래스 다이어그램</a:t>
            </a:r>
            <a:endParaRPr lang="en-US" sz="2400" b="1">
              <a:solidFill>
                <a:srgbClr val="2D2926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41D472-5691-E2A9-2926-4C2919F23034}"/>
              </a:ext>
            </a:extLst>
          </p:cNvPr>
          <p:cNvSpPr/>
          <p:nvPr/>
        </p:nvSpPr>
        <p:spPr>
          <a:xfrm>
            <a:off x="457200" y="1473200"/>
            <a:ext cx="11277600" cy="25400"/>
          </a:xfrm>
          <a:prstGeom prst="rect">
            <a:avLst/>
          </a:prstGeom>
          <a:solidFill>
            <a:srgbClr val="E4DD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13E991-452F-1D8F-D13E-ABA38F204780}"/>
              </a:ext>
            </a:extLst>
          </p:cNvPr>
          <p:cNvSpPr txBox="1"/>
          <p:nvPr/>
        </p:nvSpPr>
        <p:spPr>
          <a:xfrm>
            <a:off x="9474200" y="215900"/>
            <a:ext cx="2260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ko-KR" altLang="en-US" sz="800">
                <a:solidFill>
                  <a:srgbClr val="FFFFFF"/>
                </a:solidFill>
                <a:latin typeface="Consolas" panose="020B0609020204030204" pitchFamily="49" charset="0"/>
              </a:rPr>
              <a:t>가당 </a:t>
            </a:r>
            <a:r>
              <a:rPr lang="en-US" sz="800">
                <a:solidFill>
                  <a:srgbClr val="FFFFFF"/>
                </a:solidFill>
                <a:latin typeface="Consolas" panose="020B0609020204030204" pitchFamily="49" charset="0"/>
              </a:rPr>
              <a:t>final 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ED0AB5-60FA-2C3F-9007-FA4493D6EE84}"/>
              </a:ext>
            </a:extLst>
          </p:cNvPr>
          <p:cNvSpPr txBox="1"/>
          <p:nvPr/>
        </p:nvSpPr>
        <p:spPr>
          <a:xfrm>
            <a:off x="11290300" y="6388100"/>
            <a:ext cx="444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6B6360"/>
                </a:solidFill>
                <a:latin typeface="Consolas" panose="020B0609020204030204" pitchFamily="49" charset="0"/>
              </a:rPr>
              <a:t>05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60D806-5E26-6966-A951-817F5E21F30A}"/>
              </a:ext>
            </a:extLst>
          </p:cNvPr>
          <p:cNvSpPr/>
          <p:nvPr/>
        </p:nvSpPr>
        <p:spPr>
          <a:xfrm>
            <a:off x="546100" y="1816100"/>
            <a:ext cx="6375400" cy="3733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2840F9-6D4C-BE13-602E-728F521F262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085542"/>
            <a:ext cx="6248400" cy="319491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0E62819-2364-412E-3B74-31C30C0A99B2}"/>
              </a:ext>
            </a:extLst>
          </p:cNvPr>
          <p:cNvSpPr/>
          <p:nvPr/>
        </p:nvSpPr>
        <p:spPr>
          <a:xfrm>
            <a:off x="7429500" y="1905000"/>
            <a:ext cx="3746500" cy="9906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68D66-7DBA-E9AD-F3CB-599DE81B8C87}"/>
              </a:ext>
            </a:extLst>
          </p:cNvPr>
          <p:cNvSpPr/>
          <p:nvPr/>
        </p:nvSpPr>
        <p:spPr>
          <a:xfrm>
            <a:off x="7429500" y="1905000"/>
            <a:ext cx="63500" cy="990600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440A33-B123-2DD0-7B93-7AE69DD332E4}"/>
              </a:ext>
            </a:extLst>
          </p:cNvPr>
          <p:cNvSpPr txBox="1"/>
          <p:nvPr/>
        </p:nvSpPr>
        <p:spPr>
          <a:xfrm>
            <a:off x="7632700" y="2057400"/>
            <a:ext cx="33655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계층 분리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FD8735-FD7D-50C7-D22A-EF2DBC404CC2}"/>
              </a:ext>
            </a:extLst>
          </p:cNvPr>
          <p:cNvSpPr txBox="1"/>
          <p:nvPr/>
        </p:nvSpPr>
        <p:spPr>
          <a:xfrm>
            <a:off x="7632700" y="2387600"/>
            <a:ext cx="33655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6B6360"/>
                </a:solidFill>
                <a:latin typeface="Pretendard"/>
              </a:rPr>
              <a:t>Controller - Service - Mapper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구조로 요청 처리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비즈니스 로직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DB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접근 책임을 분리했습니다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.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F80A8C-99D0-12C3-D8B6-B575F8B4E99B}"/>
              </a:ext>
            </a:extLst>
          </p:cNvPr>
          <p:cNvSpPr/>
          <p:nvPr/>
        </p:nvSpPr>
        <p:spPr>
          <a:xfrm>
            <a:off x="7429500" y="3200400"/>
            <a:ext cx="3746500" cy="10922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0E2812-7236-11C8-5591-059F177A616F}"/>
              </a:ext>
            </a:extLst>
          </p:cNvPr>
          <p:cNvSpPr/>
          <p:nvPr/>
        </p:nvSpPr>
        <p:spPr>
          <a:xfrm>
            <a:off x="7429500" y="3200400"/>
            <a:ext cx="63500" cy="1092200"/>
          </a:xfrm>
          <a:prstGeom prst="rect">
            <a:avLst/>
          </a:prstGeom>
          <a:solidFill>
            <a:srgbClr val="3A9A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0AC236-1369-701B-DFCD-2E0420DA4137}"/>
              </a:ext>
            </a:extLst>
          </p:cNvPr>
          <p:cNvSpPr txBox="1"/>
          <p:nvPr/>
        </p:nvSpPr>
        <p:spPr>
          <a:xfrm>
            <a:off x="7632700" y="3352800"/>
            <a:ext cx="33655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도메인 단위 구성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E06577-CEE2-8AB9-27BE-CD44C9DC191E}"/>
              </a:ext>
            </a:extLst>
          </p:cNvPr>
          <p:cNvSpPr txBox="1"/>
          <p:nvPr/>
        </p:nvSpPr>
        <p:spPr>
          <a:xfrm>
            <a:off x="7632700" y="3683000"/>
            <a:ext cx="33655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50">
                <a:solidFill>
                  <a:srgbClr val="6B6360"/>
                </a:solidFill>
                <a:latin typeface="Pretendard"/>
              </a:rPr>
              <a:t>auth, trip, course, community, admin, external API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패키지를 독립적으로 두어 기능 변경 범위를 줄였습니다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.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900BD0-1609-1D97-9282-216D4DE60DFB}"/>
              </a:ext>
            </a:extLst>
          </p:cNvPr>
          <p:cNvSpPr/>
          <p:nvPr/>
        </p:nvSpPr>
        <p:spPr>
          <a:xfrm>
            <a:off x="7429500" y="4597400"/>
            <a:ext cx="3746500" cy="10922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AE8A94-800A-86A7-9DED-12380D4386EC}"/>
              </a:ext>
            </a:extLst>
          </p:cNvPr>
          <p:cNvSpPr/>
          <p:nvPr/>
        </p:nvSpPr>
        <p:spPr>
          <a:xfrm>
            <a:off x="7429500" y="4597400"/>
            <a:ext cx="63500" cy="1092200"/>
          </a:xfrm>
          <a:prstGeom prst="rect">
            <a:avLst/>
          </a:prstGeom>
          <a:solidFill>
            <a:srgbClr val="3F75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78CE52-140C-2C01-087A-D50827456360}"/>
              </a:ext>
            </a:extLst>
          </p:cNvPr>
          <p:cNvSpPr txBox="1"/>
          <p:nvPr/>
        </p:nvSpPr>
        <p:spPr>
          <a:xfrm>
            <a:off x="7632700" y="4749800"/>
            <a:ext cx="33655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50" b="1">
                <a:solidFill>
                  <a:srgbClr val="2D2926"/>
                </a:solidFill>
                <a:latin typeface="Pretendard"/>
              </a:rPr>
              <a:t>DTO/Entity </a:t>
            </a:r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경계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157E9B-0E16-0708-DE30-464F4AD4A258}"/>
              </a:ext>
            </a:extLst>
          </p:cNvPr>
          <p:cNvSpPr txBox="1"/>
          <p:nvPr/>
        </p:nvSpPr>
        <p:spPr>
          <a:xfrm>
            <a:off x="7632700" y="5080000"/>
            <a:ext cx="33655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50">
                <a:solidFill>
                  <a:srgbClr val="6B6360"/>
                </a:solidFill>
                <a:latin typeface="Pretendard"/>
              </a:rPr>
              <a:t>요청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/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응답 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DTO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와 영속 객체를 분리해 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API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응답 형식과 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DB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모델이 서로 직접 흔들리지 않게 했습니다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.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B060D6-569F-4AF2-FD86-D1DC1A5DEF2E}"/>
              </a:ext>
            </a:extLst>
          </p:cNvPr>
          <p:cNvSpPr txBox="1"/>
          <p:nvPr/>
        </p:nvSpPr>
        <p:spPr>
          <a:xfrm>
            <a:off x="889000" y="5867400"/>
            <a:ext cx="100330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ko-KR" altLang="en-US" sz="105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핵심 포인트</a:t>
            </a:r>
            <a:r>
              <a:rPr lang="en-US" altLang="ko-KR" sz="105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lang="ko-KR" altLang="en-US" sz="105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추천</a:t>
            </a:r>
            <a:r>
              <a:rPr lang="en-US" altLang="ko-KR" sz="105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05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저장</a:t>
            </a:r>
            <a:r>
              <a:rPr lang="en-US" altLang="ko-KR" sz="105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05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공유</a:t>
            </a:r>
            <a:r>
              <a:rPr lang="en-US" altLang="ko-KR" sz="105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05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관리 기능이 서비스 계층에서 조합되고 </a:t>
            </a:r>
            <a:r>
              <a:rPr lang="en-US" altLang="ko-KR" sz="105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Mapper </a:t>
            </a:r>
            <a:r>
              <a:rPr lang="ko-KR" altLang="en-US" sz="105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계층을 통해 데이터베이스와 연결됩니다</a:t>
            </a:r>
            <a:r>
              <a:rPr lang="en-US" altLang="ko-KR" sz="105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.</a:t>
            </a:r>
            <a:endParaRPr lang="en-US" sz="1050">
              <a:solidFill>
                <a:srgbClr val="6B636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143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38AF59-225B-8E54-7F14-D201B508C6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65204E-0BB1-1450-720B-995BCB7355DF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5E0479-4FEB-8D50-D998-AD34F3FDDD20}"/>
              </a:ext>
            </a:extLst>
          </p:cNvPr>
          <p:cNvSpPr txBox="1"/>
          <p:nvPr/>
        </p:nvSpPr>
        <p:spPr>
          <a:xfrm>
            <a:off x="457200" y="215900"/>
            <a:ext cx="2413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02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20062B-29B5-64E5-D072-6F7D7081F788}"/>
              </a:ext>
            </a:extLst>
          </p:cNvPr>
          <p:cNvSpPr txBox="1"/>
          <p:nvPr/>
        </p:nvSpPr>
        <p:spPr>
          <a:xfrm>
            <a:off x="457200" y="965200"/>
            <a:ext cx="863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ER </a:t>
            </a:r>
            <a:r>
              <a:rPr lang="ko-KR" altLang="en-US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다이어그램</a:t>
            </a:r>
            <a:endParaRPr lang="en-US" sz="2400" b="1">
              <a:solidFill>
                <a:srgbClr val="2D2926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F6AD59-1EA0-4A85-079E-685DBDA7C51F}"/>
              </a:ext>
            </a:extLst>
          </p:cNvPr>
          <p:cNvSpPr/>
          <p:nvPr/>
        </p:nvSpPr>
        <p:spPr>
          <a:xfrm>
            <a:off x="457200" y="1473200"/>
            <a:ext cx="11277600" cy="25400"/>
          </a:xfrm>
          <a:prstGeom prst="rect">
            <a:avLst/>
          </a:prstGeom>
          <a:solidFill>
            <a:srgbClr val="E4DD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52CA48-BF74-C5ED-BAB7-59D08892CD22}"/>
              </a:ext>
            </a:extLst>
          </p:cNvPr>
          <p:cNvSpPr txBox="1"/>
          <p:nvPr/>
        </p:nvSpPr>
        <p:spPr>
          <a:xfrm>
            <a:off x="9474200" y="215900"/>
            <a:ext cx="2260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ko-KR" altLang="en-US" sz="800">
                <a:solidFill>
                  <a:srgbClr val="FFFFFF"/>
                </a:solidFill>
                <a:latin typeface="Consolas" panose="020B0609020204030204" pitchFamily="49" charset="0"/>
              </a:rPr>
              <a:t>가당 </a:t>
            </a:r>
            <a:r>
              <a:rPr lang="en-US" sz="800">
                <a:solidFill>
                  <a:srgbClr val="FFFFFF"/>
                </a:solidFill>
                <a:latin typeface="Consolas" panose="020B0609020204030204" pitchFamily="49" charset="0"/>
              </a:rPr>
              <a:t>final 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D2D718-9B27-BA63-5B9E-E6CC31A162D5}"/>
              </a:ext>
            </a:extLst>
          </p:cNvPr>
          <p:cNvSpPr txBox="1"/>
          <p:nvPr/>
        </p:nvSpPr>
        <p:spPr>
          <a:xfrm>
            <a:off x="11290300" y="6388100"/>
            <a:ext cx="444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6B6360"/>
                </a:solidFill>
                <a:latin typeface="Consolas" panose="020B0609020204030204" pitchFamily="49" charset="0"/>
              </a:rPr>
              <a:t>06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E6BDE8-F6ED-988C-DEE8-1B08A0A9BCE6}"/>
              </a:ext>
            </a:extLst>
          </p:cNvPr>
          <p:cNvSpPr/>
          <p:nvPr/>
        </p:nvSpPr>
        <p:spPr>
          <a:xfrm>
            <a:off x="546100" y="1816100"/>
            <a:ext cx="6375400" cy="3733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1467C7-584B-4DB5-0D25-6394FAF79F1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73" y="1879600"/>
            <a:ext cx="5892254" cy="36068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9DA1AB3-F05A-880A-A77F-7AFAA81D8621}"/>
              </a:ext>
            </a:extLst>
          </p:cNvPr>
          <p:cNvSpPr/>
          <p:nvPr/>
        </p:nvSpPr>
        <p:spPr>
          <a:xfrm>
            <a:off x="7429500" y="1905000"/>
            <a:ext cx="3746500" cy="9398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B3627-8B3A-66BF-86A1-1B305573E982}"/>
              </a:ext>
            </a:extLst>
          </p:cNvPr>
          <p:cNvSpPr/>
          <p:nvPr/>
        </p:nvSpPr>
        <p:spPr>
          <a:xfrm>
            <a:off x="7429500" y="1905000"/>
            <a:ext cx="63500" cy="939800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E131B9-FE41-4A8A-0D29-1234A45D92EF}"/>
              </a:ext>
            </a:extLst>
          </p:cNvPr>
          <p:cNvSpPr txBox="1"/>
          <p:nvPr/>
        </p:nvSpPr>
        <p:spPr>
          <a:xfrm>
            <a:off x="7632700" y="2057400"/>
            <a:ext cx="33655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사용자 중심 데이터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F38C5E-C605-EF55-65CD-1032CDC0D4A1}"/>
              </a:ext>
            </a:extLst>
          </p:cNvPr>
          <p:cNvSpPr txBox="1"/>
          <p:nvPr/>
        </p:nvSpPr>
        <p:spPr>
          <a:xfrm>
            <a:off x="7632700" y="2387600"/>
            <a:ext cx="33655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6B6360"/>
                </a:solidFill>
                <a:latin typeface="Pretendard"/>
              </a:rPr>
              <a:t>USER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를 기준으로 일정 저장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즐겨찾기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게시글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/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댓글 작성 이력이 연결됩니다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.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633AA5-C16C-E036-2FE1-27E8162B7436}"/>
              </a:ext>
            </a:extLst>
          </p:cNvPr>
          <p:cNvSpPr/>
          <p:nvPr/>
        </p:nvSpPr>
        <p:spPr>
          <a:xfrm>
            <a:off x="7429500" y="3124200"/>
            <a:ext cx="3746500" cy="10922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DD50B-F7B9-5C6F-03DB-6A32B6923FF0}"/>
              </a:ext>
            </a:extLst>
          </p:cNvPr>
          <p:cNvSpPr/>
          <p:nvPr/>
        </p:nvSpPr>
        <p:spPr>
          <a:xfrm>
            <a:off x="7429500" y="3124200"/>
            <a:ext cx="63500" cy="1092200"/>
          </a:xfrm>
          <a:prstGeom prst="rect">
            <a:avLst/>
          </a:prstGeom>
          <a:solidFill>
            <a:srgbClr val="3A9A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BA0FCA-66A5-8B63-76E4-AC756B35937A}"/>
              </a:ext>
            </a:extLst>
          </p:cNvPr>
          <p:cNvSpPr txBox="1"/>
          <p:nvPr/>
        </p:nvSpPr>
        <p:spPr>
          <a:xfrm>
            <a:off x="7632700" y="3276600"/>
            <a:ext cx="33655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여행 일정 스냅샷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DD9FF2-4C81-2B29-1FA6-1E9B1CF3C734}"/>
              </a:ext>
            </a:extLst>
          </p:cNvPr>
          <p:cNvSpPr txBox="1"/>
          <p:nvPr/>
        </p:nvSpPr>
        <p:spPr>
          <a:xfrm>
            <a:off x="7632700" y="3606800"/>
            <a:ext cx="33655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6B6360"/>
                </a:solidFill>
                <a:latin typeface="Pretendard"/>
              </a:rPr>
              <a:t>TRIP_PLAN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은 추천 결과 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JSON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과 날짜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/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비용 정보를 보관해 이후 조회 시 같은 코스를 재현합니다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.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AAD584-0150-C6BE-ACFB-A893EC76D8EE}"/>
              </a:ext>
            </a:extLst>
          </p:cNvPr>
          <p:cNvSpPr/>
          <p:nvPr/>
        </p:nvSpPr>
        <p:spPr>
          <a:xfrm>
            <a:off x="7429500" y="4521200"/>
            <a:ext cx="3746500" cy="11684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200852-DF34-CD10-DDB6-FCF154687AE6}"/>
              </a:ext>
            </a:extLst>
          </p:cNvPr>
          <p:cNvSpPr/>
          <p:nvPr/>
        </p:nvSpPr>
        <p:spPr>
          <a:xfrm>
            <a:off x="7429500" y="4521200"/>
            <a:ext cx="63500" cy="1168400"/>
          </a:xfrm>
          <a:prstGeom prst="rect">
            <a:avLst/>
          </a:prstGeom>
          <a:solidFill>
            <a:srgbClr val="3F75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1204C5-6413-39A6-8DE9-077163F068F3}"/>
              </a:ext>
            </a:extLst>
          </p:cNvPr>
          <p:cNvSpPr txBox="1"/>
          <p:nvPr/>
        </p:nvSpPr>
        <p:spPr>
          <a:xfrm>
            <a:off x="7632700" y="4673600"/>
            <a:ext cx="33655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운영 데이터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45BF98-5B43-8E4F-F87D-62F0DA24F539}"/>
              </a:ext>
            </a:extLst>
          </p:cNvPr>
          <p:cNvSpPr txBox="1"/>
          <p:nvPr/>
        </p:nvSpPr>
        <p:spPr>
          <a:xfrm>
            <a:off x="7632700" y="5003800"/>
            <a:ext cx="33655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50">
                <a:solidFill>
                  <a:srgbClr val="6B6360"/>
                </a:solidFill>
                <a:latin typeface="Pretendard"/>
              </a:rPr>
              <a:t>입장료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블랙리스트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공지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외부 캐시 데이터를 별도 테이블로 관리해 추천 품질과 운영 편의성을 높였습니다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.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62957F-2396-6FF2-E170-8B1EED768A81}"/>
              </a:ext>
            </a:extLst>
          </p:cNvPr>
          <p:cNvSpPr txBox="1"/>
          <p:nvPr/>
        </p:nvSpPr>
        <p:spPr>
          <a:xfrm>
            <a:off x="889000" y="5867400"/>
            <a:ext cx="100330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ko-KR" altLang="en-US" sz="105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핵심 포인트</a:t>
            </a:r>
            <a:r>
              <a:rPr lang="en-US" altLang="ko-KR" sz="105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lang="ko-KR" altLang="en-US" sz="105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사용자가 생성한 여행 데이터와 운영자가 관리하는 기준 데이터가 분리되어 확장과 유지보수가 쉽습니다</a:t>
            </a:r>
            <a:r>
              <a:rPr lang="en-US" altLang="ko-KR" sz="105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.</a:t>
            </a:r>
            <a:endParaRPr lang="en-US" sz="1050">
              <a:solidFill>
                <a:srgbClr val="6B636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8568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A4AD5A-7B45-BF79-8080-4AF0278E94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54E11E-C9FE-BC75-DE69-733596068DCC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F0A6FF-4B74-3F52-22DC-11E12347E492}"/>
              </a:ext>
            </a:extLst>
          </p:cNvPr>
          <p:cNvSpPr txBox="1"/>
          <p:nvPr/>
        </p:nvSpPr>
        <p:spPr>
          <a:xfrm>
            <a:off x="457200" y="215900"/>
            <a:ext cx="2413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03 TECH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7FA82A-7F04-8680-E280-F7BA614A941D}"/>
              </a:ext>
            </a:extLst>
          </p:cNvPr>
          <p:cNvSpPr txBox="1"/>
          <p:nvPr/>
        </p:nvSpPr>
        <p:spPr>
          <a:xfrm>
            <a:off x="457200" y="965200"/>
            <a:ext cx="863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시스템 아키텍처</a:t>
            </a:r>
            <a:endParaRPr lang="en-US" sz="2400" b="1">
              <a:solidFill>
                <a:srgbClr val="2D2926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FAD5C7-B1F0-55C5-431F-F02683A28E2E}"/>
              </a:ext>
            </a:extLst>
          </p:cNvPr>
          <p:cNvSpPr/>
          <p:nvPr/>
        </p:nvSpPr>
        <p:spPr>
          <a:xfrm>
            <a:off x="457200" y="1473200"/>
            <a:ext cx="11277600" cy="25400"/>
          </a:xfrm>
          <a:prstGeom prst="rect">
            <a:avLst/>
          </a:prstGeom>
          <a:solidFill>
            <a:srgbClr val="E4DD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A13B69-F77D-B7C2-C9FA-B23B63195441}"/>
              </a:ext>
            </a:extLst>
          </p:cNvPr>
          <p:cNvSpPr txBox="1"/>
          <p:nvPr/>
        </p:nvSpPr>
        <p:spPr>
          <a:xfrm>
            <a:off x="9474200" y="215900"/>
            <a:ext cx="2260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ko-KR" altLang="en-US" sz="800">
                <a:solidFill>
                  <a:srgbClr val="FFFFFF"/>
                </a:solidFill>
                <a:latin typeface="Consolas" panose="020B0609020204030204" pitchFamily="49" charset="0"/>
              </a:rPr>
              <a:t>가당 </a:t>
            </a:r>
            <a:r>
              <a:rPr lang="en-US" sz="800">
                <a:solidFill>
                  <a:srgbClr val="FFFFFF"/>
                </a:solidFill>
                <a:latin typeface="Consolas" panose="020B0609020204030204" pitchFamily="49" charset="0"/>
              </a:rPr>
              <a:t>final 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6E604C-9BFE-9F4E-E69C-87672B92B1B2}"/>
              </a:ext>
            </a:extLst>
          </p:cNvPr>
          <p:cNvSpPr txBox="1"/>
          <p:nvPr/>
        </p:nvSpPr>
        <p:spPr>
          <a:xfrm>
            <a:off x="11290300" y="6388100"/>
            <a:ext cx="444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6B6360"/>
                </a:solidFill>
                <a:latin typeface="Consolas" panose="020B0609020204030204" pitchFamily="49" charset="0"/>
              </a:rPr>
              <a:t>07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3E4CDC-A381-4824-F396-049FC7A662E1}"/>
              </a:ext>
            </a:extLst>
          </p:cNvPr>
          <p:cNvSpPr/>
          <p:nvPr/>
        </p:nvSpPr>
        <p:spPr>
          <a:xfrm>
            <a:off x="711200" y="1841500"/>
            <a:ext cx="1905000" cy="14224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84D6A0-3F67-B029-A6C9-7E9558A3861C}"/>
              </a:ext>
            </a:extLst>
          </p:cNvPr>
          <p:cNvSpPr/>
          <p:nvPr/>
        </p:nvSpPr>
        <p:spPr>
          <a:xfrm>
            <a:off x="711200" y="1841500"/>
            <a:ext cx="1905000" cy="127000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EEB2C0-3B71-8C4E-0A36-5653004EA74B}"/>
              </a:ext>
            </a:extLst>
          </p:cNvPr>
          <p:cNvSpPr txBox="1"/>
          <p:nvPr/>
        </p:nvSpPr>
        <p:spPr>
          <a:xfrm>
            <a:off x="889000" y="2133600"/>
            <a:ext cx="152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D97035"/>
                </a:solidFill>
                <a:latin typeface="Consolas" panose="020B0609020204030204" pitchFamily="49" charset="0"/>
              </a:rPr>
              <a:t>Frontend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095684-80F3-31E0-E345-2198204EE64D}"/>
              </a:ext>
            </a:extLst>
          </p:cNvPr>
          <p:cNvSpPr txBox="1"/>
          <p:nvPr/>
        </p:nvSpPr>
        <p:spPr>
          <a:xfrm>
            <a:off x="889000" y="2514600"/>
            <a:ext cx="1524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900">
                <a:solidFill>
                  <a:srgbClr val="6B6360"/>
                </a:solidFill>
                <a:latin typeface="Pretendard"/>
              </a:rPr>
              <a:t>Vue 3 + Vite</a:t>
            </a:r>
          </a:p>
          <a:p>
            <a:r>
              <a:rPr lang="fr-FR" sz="900">
                <a:solidFill>
                  <a:srgbClr val="6B6360"/>
                </a:solidFill>
                <a:latin typeface="Pretendard"/>
              </a:rPr>
              <a:t>Router / Axios</a:t>
            </a:r>
          </a:p>
          <a:p>
            <a:r>
              <a:rPr lang="fr-FR" sz="900">
                <a:solidFill>
                  <a:srgbClr val="6B6360"/>
                </a:solidFill>
                <a:latin typeface="Pretendard"/>
              </a:rPr>
              <a:t>Kakao Map JS</a:t>
            </a:r>
            <a:endParaRPr lang="en-US" sz="90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4FC66C-218B-9BAB-5240-8EB563FFA65B}"/>
              </a:ext>
            </a:extLst>
          </p:cNvPr>
          <p:cNvSpPr/>
          <p:nvPr/>
        </p:nvSpPr>
        <p:spPr>
          <a:xfrm>
            <a:off x="3606800" y="1841500"/>
            <a:ext cx="1905000" cy="14224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3826D3-4D8D-EC7A-F7EB-79FE36363273}"/>
              </a:ext>
            </a:extLst>
          </p:cNvPr>
          <p:cNvSpPr/>
          <p:nvPr/>
        </p:nvSpPr>
        <p:spPr>
          <a:xfrm>
            <a:off x="3606800" y="1841500"/>
            <a:ext cx="1905000" cy="127000"/>
          </a:xfrm>
          <a:prstGeom prst="rect">
            <a:avLst/>
          </a:prstGeom>
          <a:solidFill>
            <a:srgbClr val="B85A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06D24A-7250-0F2D-B5C3-C2685F61A653}"/>
              </a:ext>
            </a:extLst>
          </p:cNvPr>
          <p:cNvSpPr txBox="1"/>
          <p:nvPr/>
        </p:nvSpPr>
        <p:spPr>
          <a:xfrm>
            <a:off x="3784600" y="2133600"/>
            <a:ext cx="152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B85A1E"/>
                </a:solidFill>
                <a:latin typeface="Consolas" panose="020B0609020204030204" pitchFamily="49" charset="0"/>
              </a:rPr>
              <a:t>Backend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AD8606-BEAA-BEEF-0351-1A5F2DB38420}"/>
              </a:ext>
            </a:extLst>
          </p:cNvPr>
          <p:cNvSpPr txBox="1"/>
          <p:nvPr/>
        </p:nvSpPr>
        <p:spPr>
          <a:xfrm>
            <a:off x="3784600" y="2514600"/>
            <a:ext cx="1524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6B6360"/>
                </a:solidFill>
                <a:latin typeface="Pretendard"/>
              </a:rPr>
              <a:t>Spring Boot</a:t>
            </a:r>
          </a:p>
          <a:p>
            <a:r>
              <a:rPr lang="en-US" sz="900">
                <a:solidFill>
                  <a:srgbClr val="6B6360"/>
                </a:solidFill>
                <a:latin typeface="Pretendard"/>
              </a:rPr>
              <a:t>Security / JWT</a:t>
            </a:r>
          </a:p>
          <a:p>
            <a:r>
              <a:rPr lang="en-US" sz="900">
                <a:solidFill>
                  <a:srgbClr val="6B6360"/>
                </a:solidFill>
                <a:latin typeface="Pretendard"/>
              </a:rPr>
              <a:t>MyBatis / REST API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28F2B1-F6FC-2D5F-680C-03EF9F625EB9}"/>
              </a:ext>
            </a:extLst>
          </p:cNvPr>
          <p:cNvSpPr/>
          <p:nvPr/>
        </p:nvSpPr>
        <p:spPr>
          <a:xfrm>
            <a:off x="6502400" y="1841500"/>
            <a:ext cx="1905000" cy="14224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BC66C3-5D81-0E32-E300-4B8C65D42C4A}"/>
              </a:ext>
            </a:extLst>
          </p:cNvPr>
          <p:cNvSpPr/>
          <p:nvPr/>
        </p:nvSpPr>
        <p:spPr>
          <a:xfrm>
            <a:off x="6502400" y="1841500"/>
            <a:ext cx="1905000" cy="127000"/>
          </a:xfrm>
          <a:prstGeom prst="rect">
            <a:avLst/>
          </a:prstGeom>
          <a:solidFill>
            <a:srgbClr val="3A9A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D0B2F6-8A4E-7410-AC7D-BE9F564D1E52}"/>
              </a:ext>
            </a:extLst>
          </p:cNvPr>
          <p:cNvSpPr txBox="1"/>
          <p:nvPr/>
        </p:nvSpPr>
        <p:spPr>
          <a:xfrm>
            <a:off x="6680200" y="2133600"/>
            <a:ext cx="152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3A9A6B"/>
                </a:solidFill>
                <a:latin typeface="Consolas" panose="020B0609020204030204" pitchFamily="49" charset="0"/>
              </a:rPr>
              <a:t>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BE4E0A-D5B4-451B-D022-917DC09AA4D0}"/>
              </a:ext>
            </a:extLst>
          </p:cNvPr>
          <p:cNvSpPr txBox="1"/>
          <p:nvPr/>
        </p:nvSpPr>
        <p:spPr>
          <a:xfrm>
            <a:off x="6680200" y="2514600"/>
            <a:ext cx="1524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6B6360"/>
                </a:solidFill>
                <a:latin typeface="Pretendard"/>
              </a:rPr>
              <a:t>MySQL 8</a:t>
            </a:r>
          </a:p>
          <a:p>
            <a:r>
              <a:rPr lang="en-US" sz="900">
                <a:solidFill>
                  <a:srgbClr val="6B6360"/>
                </a:solidFill>
                <a:latin typeface="Pretendard"/>
              </a:rPr>
              <a:t>Caffeine Cache</a:t>
            </a:r>
          </a:p>
          <a:p>
            <a:r>
              <a:rPr lang="en-US" sz="900">
                <a:solidFill>
                  <a:srgbClr val="6B6360"/>
                </a:solidFill>
                <a:latin typeface="Pretendard"/>
              </a:rPr>
              <a:t>Transport Schedule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27A1A2-6AD8-636B-5354-921EC076C91F}"/>
              </a:ext>
            </a:extLst>
          </p:cNvPr>
          <p:cNvSpPr/>
          <p:nvPr/>
        </p:nvSpPr>
        <p:spPr>
          <a:xfrm>
            <a:off x="9398000" y="1841500"/>
            <a:ext cx="1905000" cy="14224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B6919A-54FB-678A-B8CA-14723CDDF8F0}"/>
              </a:ext>
            </a:extLst>
          </p:cNvPr>
          <p:cNvSpPr/>
          <p:nvPr/>
        </p:nvSpPr>
        <p:spPr>
          <a:xfrm>
            <a:off x="9398000" y="1841500"/>
            <a:ext cx="1905000" cy="127000"/>
          </a:xfrm>
          <a:prstGeom prst="rect">
            <a:avLst/>
          </a:prstGeom>
          <a:solidFill>
            <a:srgbClr val="3F75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72B9E0-504F-9B0F-8667-7C478B11EFD3}"/>
              </a:ext>
            </a:extLst>
          </p:cNvPr>
          <p:cNvSpPr txBox="1"/>
          <p:nvPr/>
        </p:nvSpPr>
        <p:spPr>
          <a:xfrm>
            <a:off x="9575800" y="2133600"/>
            <a:ext cx="152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3F75B5"/>
                </a:solidFill>
                <a:latin typeface="Consolas" panose="020B0609020204030204" pitchFamily="49" charset="0"/>
              </a:rPr>
              <a:t>AI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8CACCD-69A9-0399-1117-0A92C33A1C1B}"/>
              </a:ext>
            </a:extLst>
          </p:cNvPr>
          <p:cNvSpPr txBox="1"/>
          <p:nvPr/>
        </p:nvSpPr>
        <p:spPr>
          <a:xfrm>
            <a:off x="9575800" y="2514600"/>
            <a:ext cx="1524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6B6360"/>
                </a:solidFill>
                <a:latin typeface="Pretendard"/>
              </a:rPr>
              <a:t>Spring AI</a:t>
            </a:r>
          </a:p>
          <a:p>
            <a:r>
              <a:rPr lang="en-US" sz="900">
                <a:solidFill>
                  <a:srgbClr val="6B6360"/>
                </a:solidFill>
                <a:latin typeface="Pretendard"/>
              </a:rPr>
              <a:t>FastAPI RAG</a:t>
            </a:r>
          </a:p>
          <a:p>
            <a:r>
              <a:rPr lang="en-US" sz="900">
                <a:solidFill>
                  <a:srgbClr val="6B6360"/>
                </a:solidFill>
                <a:latin typeface="Pretendard"/>
              </a:rPr>
              <a:t>GMS(OpenAI </a:t>
            </a:r>
            <a:r>
              <a:rPr lang="ko-KR" altLang="en-US" sz="900">
                <a:solidFill>
                  <a:srgbClr val="6B6360"/>
                </a:solidFill>
                <a:latin typeface="Pretendard"/>
              </a:rPr>
              <a:t>호환</a:t>
            </a:r>
            <a:r>
              <a:rPr lang="en-US" altLang="ko-KR" sz="900">
                <a:solidFill>
                  <a:srgbClr val="6B6360"/>
                </a:solidFill>
                <a:latin typeface="Pretendard"/>
              </a:rPr>
              <a:t>)</a:t>
            </a:r>
            <a:endParaRPr lang="en-US" sz="90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50FD37-36C4-56D6-F96E-6F5EDBFE7EF5}"/>
              </a:ext>
            </a:extLst>
          </p:cNvPr>
          <p:cNvSpPr txBox="1"/>
          <p:nvPr/>
        </p:nvSpPr>
        <p:spPr>
          <a:xfrm>
            <a:off x="889000" y="3708400"/>
            <a:ext cx="2413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B85A1E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External API </a:t>
            </a:r>
            <a:r>
              <a:rPr lang="ko-KR" altLang="en-US" sz="1300" b="1">
                <a:solidFill>
                  <a:srgbClr val="B85A1E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역할</a:t>
            </a:r>
            <a:endParaRPr lang="en-US" sz="1300" b="1">
              <a:solidFill>
                <a:srgbClr val="B85A1E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DCE49D-E7E2-B753-D5AA-A6FC95805D97}"/>
              </a:ext>
            </a:extLst>
          </p:cNvPr>
          <p:cNvSpPr/>
          <p:nvPr/>
        </p:nvSpPr>
        <p:spPr>
          <a:xfrm>
            <a:off x="889000" y="4089400"/>
            <a:ext cx="4953000" cy="568626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EA029C-4A12-419E-FD6B-8548AAB4CD93}"/>
              </a:ext>
            </a:extLst>
          </p:cNvPr>
          <p:cNvSpPr/>
          <p:nvPr/>
        </p:nvSpPr>
        <p:spPr>
          <a:xfrm>
            <a:off x="889000" y="4089400"/>
            <a:ext cx="63500" cy="568626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E4C9B5-A166-9742-EEFF-A93DD577BF7A}"/>
              </a:ext>
            </a:extLst>
          </p:cNvPr>
          <p:cNvSpPr txBox="1"/>
          <p:nvPr/>
        </p:nvSpPr>
        <p:spPr>
          <a:xfrm>
            <a:off x="1066800" y="4191000"/>
            <a:ext cx="4622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20" b="1" dirty="0">
                <a:solidFill>
                  <a:srgbClr val="D97035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Kakao Local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42963E-8703-3E8E-9E22-6E2EE1055E8A}"/>
              </a:ext>
            </a:extLst>
          </p:cNvPr>
          <p:cNvSpPr txBox="1"/>
          <p:nvPr/>
        </p:nvSpPr>
        <p:spPr>
          <a:xfrm>
            <a:off x="1066800" y="4394200"/>
            <a:ext cx="4622800" cy="12003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지역 내 장소 검색</a:t>
            </a:r>
            <a:r>
              <a:rPr lang="en-US" altLang="ko-KR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카테고리 후보 수집</a:t>
            </a:r>
            <a:r>
              <a:rPr lang="en-US" altLang="ko-KR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좌표</a:t>
            </a:r>
            <a:r>
              <a:rPr lang="en-US" altLang="ko-KR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/</a:t>
            </a:r>
            <a:r>
              <a:rPr lang="ko-KR" altLang="en-US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주소 확보</a:t>
            </a:r>
            <a:endParaRPr lang="en-US" sz="780">
              <a:solidFill>
                <a:srgbClr val="6B636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AF13F7-1DF8-9FED-E000-9134120C4636}"/>
              </a:ext>
            </a:extLst>
          </p:cNvPr>
          <p:cNvSpPr/>
          <p:nvPr/>
        </p:nvSpPr>
        <p:spPr>
          <a:xfrm>
            <a:off x="889000" y="4700016"/>
            <a:ext cx="4953000" cy="568626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3F1495C-EF81-89CF-93C2-71D4BE2E7FBB}"/>
              </a:ext>
            </a:extLst>
          </p:cNvPr>
          <p:cNvSpPr/>
          <p:nvPr/>
        </p:nvSpPr>
        <p:spPr>
          <a:xfrm>
            <a:off x="889000" y="4700016"/>
            <a:ext cx="63500" cy="568626"/>
          </a:xfrm>
          <a:prstGeom prst="rect">
            <a:avLst/>
          </a:prstGeom>
          <a:solidFill>
            <a:srgbClr val="B85A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90D2DF-4031-3CD5-22A2-79748466D489}"/>
              </a:ext>
            </a:extLst>
          </p:cNvPr>
          <p:cNvSpPr txBox="1"/>
          <p:nvPr/>
        </p:nvSpPr>
        <p:spPr>
          <a:xfrm>
            <a:off x="1066800" y="4801616"/>
            <a:ext cx="4622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20" b="1">
                <a:solidFill>
                  <a:srgbClr val="B85A1E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Kakao Map JS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8B500E-AC37-44D6-2341-E458FBC768AD}"/>
              </a:ext>
            </a:extLst>
          </p:cNvPr>
          <p:cNvSpPr txBox="1"/>
          <p:nvPr/>
        </p:nvSpPr>
        <p:spPr>
          <a:xfrm>
            <a:off x="1066800" y="5004816"/>
            <a:ext cx="4622800" cy="12003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프론트 지도 표시</a:t>
            </a:r>
            <a:r>
              <a:rPr lang="en-US" altLang="ko-KR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마커</a:t>
            </a:r>
            <a:r>
              <a:rPr lang="en-US" altLang="ko-KR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/</a:t>
            </a:r>
            <a:r>
              <a:rPr lang="ko-KR" altLang="en-US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검색 결과 시각화</a:t>
            </a:r>
            <a:r>
              <a:rPr lang="en-US" altLang="ko-KR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코스 후보 확인</a:t>
            </a:r>
            <a:endParaRPr lang="en-US" sz="780">
              <a:solidFill>
                <a:srgbClr val="6B636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E9C936A-8D4E-9631-2EB8-87C59B9B0DD1}"/>
              </a:ext>
            </a:extLst>
          </p:cNvPr>
          <p:cNvSpPr/>
          <p:nvPr/>
        </p:nvSpPr>
        <p:spPr>
          <a:xfrm>
            <a:off x="889000" y="5308600"/>
            <a:ext cx="4953000" cy="568626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7334D65-115B-4FD4-0338-B693A62A0C10}"/>
              </a:ext>
            </a:extLst>
          </p:cNvPr>
          <p:cNvSpPr/>
          <p:nvPr/>
        </p:nvSpPr>
        <p:spPr>
          <a:xfrm>
            <a:off x="889000" y="5308600"/>
            <a:ext cx="63500" cy="568626"/>
          </a:xfrm>
          <a:prstGeom prst="rect">
            <a:avLst/>
          </a:prstGeom>
          <a:solidFill>
            <a:srgbClr val="3F75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0E2CD7-2293-CCF5-D05B-A1775CBBAF64}"/>
              </a:ext>
            </a:extLst>
          </p:cNvPr>
          <p:cNvSpPr txBox="1"/>
          <p:nvPr/>
        </p:nvSpPr>
        <p:spPr>
          <a:xfrm>
            <a:off x="1066800" y="5410200"/>
            <a:ext cx="4622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20" b="1">
                <a:solidFill>
                  <a:srgbClr val="3F75B5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ODsay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4EEBD7-C725-6EC5-3259-57761D0BD0EA}"/>
              </a:ext>
            </a:extLst>
          </p:cNvPr>
          <p:cNvSpPr txBox="1"/>
          <p:nvPr/>
        </p:nvSpPr>
        <p:spPr>
          <a:xfrm>
            <a:off x="1066800" y="5613400"/>
            <a:ext cx="4622800" cy="12003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장소 간 대중교통 시간과 요금 추정</a:t>
            </a:r>
            <a:r>
              <a:rPr lang="en-US" altLang="ko-KR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코스 이동 구간 계산</a:t>
            </a:r>
            <a:endParaRPr lang="en-US" sz="780">
              <a:solidFill>
                <a:srgbClr val="6B636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DD3E63-CDA8-24B5-2FB0-34C343304C8B}"/>
              </a:ext>
            </a:extLst>
          </p:cNvPr>
          <p:cNvSpPr/>
          <p:nvPr/>
        </p:nvSpPr>
        <p:spPr>
          <a:xfrm>
            <a:off x="889000" y="5917184"/>
            <a:ext cx="4953000" cy="568626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0BC69F6-9C86-8A3D-5275-5145D3E1694D}"/>
              </a:ext>
            </a:extLst>
          </p:cNvPr>
          <p:cNvSpPr/>
          <p:nvPr/>
        </p:nvSpPr>
        <p:spPr>
          <a:xfrm>
            <a:off x="889000" y="5917184"/>
            <a:ext cx="63500" cy="568626"/>
          </a:xfrm>
          <a:prstGeom prst="rect">
            <a:avLst/>
          </a:prstGeom>
          <a:solidFill>
            <a:srgbClr val="3F75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2C78FE-2066-EFBF-D8A0-4DDE04D85655}"/>
              </a:ext>
            </a:extLst>
          </p:cNvPr>
          <p:cNvSpPr txBox="1"/>
          <p:nvPr/>
        </p:nvSpPr>
        <p:spPr>
          <a:xfrm>
            <a:off x="1066800" y="6018784"/>
            <a:ext cx="4622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20" b="1">
                <a:solidFill>
                  <a:srgbClr val="3F75B5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TAGO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7FE5202-C807-A744-B2E0-5CD3AC77B9B8}"/>
              </a:ext>
            </a:extLst>
          </p:cNvPr>
          <p:cNvSpPr txBox="1"/>
          <p:nvPr/>
        </p:nvSpPr>
        <p:spPr>
          <a:xfrm>
            <a:off x="1066800" y="6221984"/>
            <a:ext cx="4622800" cy="12003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시외 교통 시간표</a:t>
            </a:r>
            <a:r>
              <a:rPr lang="en-US" altLang="ko-KR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/</a:t>
            </a:r>
            <a:r>
              <a:rPr lang="ko-KR" altLang="en-US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운행 정보 보강</a:t>
            </a:r>
            <a:r>
              <a:rPr lang="en-US" altLang="ko-KR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지역 이동 가능성 판단</a:t>
            </a:r>
            <a:endParaRPr lang="en-US" sz="780">
              <a:solidFill>
                <a:srgbClr val="6B636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5ABF211-C0A0-44A9-54F3-9634EF865CAC}"/>
              </a:ext>
            </a:extLst>
          </p:cNvPr>
          <p:cNvSpPr/>
          <p:nvPr/>
        </p:nvSpPr>
        <p:spPr>
          <a:xfrm>
            <a:off x="6350000" y="4089400"/>
            <a:ext cx="4953000" cy="568626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4001220-5283-84A0-7779-EBFB48169D33}"/>
              </a:ext>
            </a:extLst>
          </p:cNvPr>
          <p:cNvSpPr/>
          <p:nvPr/>
        </p:nvSpPr>
        <p:spPr>
          <a:xfrm>
            <a:off x="6350000" y="4089400"/>
            <a:ext cx="63500" cy="568626"/>
          </a:xfrm>
          <a:prstGeom prst="rect">
            <a:avLst/>
          </a:prstGeom>
          <a:solidFill>
            <a:srgbClr val="D94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CFE4E3-57CC-4CBA-20ED-2FF51AD4FB5E}"/>
              </a:ext>
            </a:extLst>
          </p:cNvPr>
          <p:cNvSpPr txBox="1"/>
          <p:nvPr/>
        </p:nvSpPr>
        <p:spPr>
          <a:xfrm>
            <a:off x="6527800" y="4191000"/>
            <a:ext cx="4622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20" b="1">
                <a:solidFill>
                  <a:srgbClr val="D9404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Naver DataLab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71CBEF-F57E-0B50-FA60-D298A69ED4F1}"/>
              </a:ext>
            </a:extLst>
          </p:cNvPr>
          <p:cNvSpPr txBox="1"/>
          <p:nvPr/>
        </p:nvSpPr>
        <p:spPr>
          <a:xfrm>
            <a:off x="6527800" y="4394200"/>
            <a:ext cx="4622800" cy="12003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검색 트렌드 기반 인기 점수 반영</a:t>
            </a:r>
            <a:r>
              <a:rPr lang="en-US" altLang="ko-KR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추천 후보 랭킹 보정</a:t>
            </a:r>
            <a:endParaRPr lang="en-US" sz="780">
              <a:solidFill>
                <a:srgbClr val="6B636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4773271-9C3A-B353-7CA0-89BA03A92A8B}"/>
              </a:ext>
            </a:extLst>
          </p:cNvPr>
          <p:cNvSpPr/>
          <p:nvPr/>
        </p:nvSpPr>
        <p:spPr>
          <a:xfrm>
            <a:off x="6350000" y="4700016"/>
            <a:ext cx="4953000" cy="568626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45B3DCB-E325-774F-292F-42A7692622DC}"/>
              </a:ext>
            </a:extLst>
          </p:cNvPr>
          <p:cNvSpPr/>
          <p:nvPr/>
        </p:nvSpPr>
        <p:spPr>
          <a:xfrm>
            <a:off x="6350000" y="4700016"/>
            <a:ext cx="63500" cy="568626"/>
          </a:xfrm>
          <a:prstGeom prst="rect">
            <a:avLst/>
          </a:prstGeom>
          <a:solidFill>
            <a:srgbClr val="3A9A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660CCF-0982-F01B-122D-234FCEAC7BDD}"/>
              </a:ext>
            </a:extLst>
          </p:cNvPr>
          <p:cNvSpPr txBox="1"/>
          <p:nvPr/>
        </p:nvSpPr>
        <p:spPr>
          <a:xfrm>
            <a:off x="6527800" y="4801616"/>
            <a:ext cx="4622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20" b="1">
                <a:solidFill>
                  <a:srgbClr val="3A9A6B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TourAPI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F4E96DB-A366-8E2A-6FFF-AAE260D90DE8}"/>
              </a:ext>
            </a:extLst>
          </p:cNvPr>
          <p:cNvSpPr txBox="1"/>
          <p:nvPr/>
        </p:nvSpPr>
        <p:spPr>
          <a:xfrm>
            <a:off x="6527800" y="5004816"/>
            <a:ext cx="4622800" cy="12003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관광지 이미지와 상세 정보 보강</a:t>
            </a:r>
            <a:r>
              <a:rPr lang="en-US" altLang="ko-KR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화면</a:t>
            </a:r>
            <a:r>
              <a:rPr lang="en-US" altLang="ko-KR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/</a:t>
            </a:r>
            <a:r>
              <a:rPr lang="ko-KR" altLang="en-US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추천 콘텐츠 품질 개선</a:t>
            </a:r>
            <a:endParaRPr lang="en-US" sz="780">
              <a:solidFill>
                <a:srgbClr val="6B636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9D1CC45-7115-135A-CE8E-84DC786C1414}"/>
              </a:ext>
            </a:extLst>
          </p:cNvPr>
          <p:cNvSpPr/>
          <p:nvPr/>
        </p:nvSpPr>
        <p:spPr>
          <a:xfrm>
            <a:off x="6350000" y="5308600"/>
            <a:ext cx="4953000" cy="568626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4F66AFB-6FAF-04D7-E77E-E647A51F69F6}"/>
              </a:ext>
            </a:extLst>
          </p:cNvPr>
          <p:cNvSpPr/>
          <p:nvPr/>
        </p:nvSpPr>
        <p:spPr>
          <a:xfrm>
            <a:off x="6350000" y="5308600"/>
            <a:ext cx="63500" cy="568626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F902B32-D825-EB41-BD33-0294A81E01D5}"/>
              </a:ext>
            </a:extLst>
          </p:cNvPr>
          <p:cNvSpPr txBox="1"/>
          <p:nvPr/>
        </p:nvSpPr>
        <p:spPr>
          <a:xfrm>
            <a:off x="6527800" y="5410200"/>
            <a:ext cx="4622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20" b="1">
                <a:solidFill>
                  <a:srgbClr val="D97035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GMS / OpenAI compatible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8DD68F9-E74E-266D-90F7-EE1AF3816A23}"/>
              </a:ext>
            </a:extLst>
          </p:cNvPr>
          <p:cNvSpPr txBox="1"/>
          <p:nvPr/>
        </p:nvSpPr>
        <p:spPr>
          <a:xfrm>
            <a:off x="6527800" y="5613400"/>
            <a:ext cx="4622800" cy="12003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AI </a:t>
            </a:r>
            <a:r>
              <a:rPr lang="ko-KR" altLang="en-US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챗봇 응답</a:t>
            </a:r>
            <a:r>
              <a:rPr lang="en-US" altLang="ko-KR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RAG </a:t>
            </a:r>
            <a:r>
              <a:rPr lang="ko-KR" altLang="en-US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검색</a:t>
            </a:r>
            <a:r>
              <a:rPr lang="en-US" altLang="ko-KR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Tool Calling </a:t>
            </a:r>
            <a:r>
              <a:rPr lang="ko-KR" altLang="en-US" sz="78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기반 코스 탐색</a:t>
            </a:r>
            <a:endParaRPr lang="en-US" sz="780">
              <a:solidFill>
                <a:srgbClr val="6B636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2024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A6D12D-3119-9271-11F4-6A900D2EB9F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D54046-848A-100D-6B6F-8369131D9E30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4BCF9F-2C44-24F3-0380-9DC99EFC6FB2}"/>
              </a:ext>
            </a:extLst>
          </p:cNvPr>
          <p:cNvSpPr txBox="1"/>
          <p:nvPr/>
        </p:nvSpPr>
        <p:spPr>
          <a:xfrm>
            <a:off x="457200" y="215900"/>
            <a:ext cx="2413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04 SCREENS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DCBFA2-7B6C-3213-9C58-77E7B92C2BB7}"/>
              </a:ext>
            </a:extLst>
          </p:cNvPr>
          <p:cNvSpPr txBox="1"/>
          <p:nvPr/>
        </p:nvSpPr>
        <p:spPr>
          <a:xfrm>
            <a:off x="457200" y="965200"/>
            <a:ext cx="863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주요 화면 </a:t>
            </a:r>
            <a:r>
              <a:rPr lang="en-US" altLang="ko-KR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1 - </a:t>
            </a:r>
            <a:r>
              <a:rPr lang="ko-KR" altLang="en-US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지역 추천과 지도</a:t>
            </a:r>
            <a:endParaRPr lang="en-US" sz="2400" b="1">
              <a:solidFill>
                <a:srgbClr val="2D2926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68ED0A-23AB-ABE9-3D8A-9C8C994C32BD}"/>
              </a:ext>
            </a:extLst>
          </p:cNvPr>
          <p:cNvSpPr/>
          <p:nvPr/>
        </p:nvSpPr>
        <p:spPr>
          <a:xfrm>
            <a:off x="457200" y="1473200"/>
            <a:ext cx="11277600" cy="25400"/>
          </a:xfrm>
          <a:prstGeom prst="rect">
            <a:avLst/>
          </a:prstGeom>
          <a:solidFill>
            <a:srgbClr val="E4DD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630F41-0657-44CA-B532-09C6209F072B}"/>
              </a:ext>
            </a:extLst>
          </p:cNvPr>
          <p:cNvSpPr txBox="1"/>
          <p:nvPr/>
        </p:nvSpPr>
        <p:spPr>
          <a:xfrm>
            <a:off x="9474200" y="215900"/>
            <a:ext cx="2260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ko-KR" altLang="en-US" sz="800">
                <a:solidFill>
                  <a:srgbClr val="FFFFFF"/>
                </a:solidFill>
                <a:latin typeface="Consolas" panose="020B0609020204030204" pitchFamily="49" charset="0"/>
              </a:rPr>
              <a:t>가당 </a:t>
            </a:r>
            <a:r>
              <a:rPr lang="en-US" sz="800">
                <a:solidFill>
                  <a:srgbClr val="FFFFFF"/>
                </a:solidFill>
                <a:latin typeface="Consolas" panose="020B0609020204030204" pitchFamily="49" charset="0"/>
              </a:rPr>
              <a:t>final 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F7B223-508C-D290-79CB-5D20E9EEEF69}"/>
              </a:ext>
            </a:extLst>
          </p:cNvPr>
          <p:cNvSpPr txBox="1"/>
          <p:nvPr/>
        </p:nvSpPr>
        <p:spPr>
          <a:xfrm>
            <a:off x="11290300" y="6388100"/>
            <a:ext cx="444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6B6360"/>
                </a:solidFill>
                <a:latin typeface="Consolas" panose="020B0609020204030204" pitchFamily="49" charset="0"/>
              </a:rPr>
              <a:t>08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EB833B-8DE0-25B5-444A-F2643EDD1612}"/>
              </a:ext>
            </a:extLst>
          </p:cNvPr>
          <p:cNvSpPr/>
          <p:nvPr/>
        </p:nvSpPr>
        <p:spPr>
          <a:xfrm>
            <a:off x="546100" y="1739900"/>
            <a:ext cx="5270500" cy="289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EF52F3-1D55-1CDF-184E-F70DAE60F26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05384"/>
            <a:ext cx="5143500" cy="276463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D34B29C-6EA7-411D-7F31-D38BA165F7FE}"/>
              </a:ext>
            </a:extLst>
          </p:cNvPr>
          <p:cNvSpPr/>
          <p:nvPr/>
        </p:nvSpPr>
        <p:spPr>
          <a:xfrm>
            <a:off x="6362700" y="1739900"/>
            <a:ext cx="5270500" cy="2895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2584C0-BC88-FACD-2B86-433994A9501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200" y="1805384"/>
            <a:ext cx="5143500" cy="276463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0564497-1CA7-872A-7A3E-A6EC0182CFD4}"/>
              </a:ext>
            </a:extLst>
          </p:cNvPr>
          <p:cNvSpPr/>
          <p:nvPr/>
        </p:nvSpPr>
        <p:spPr>
          <a:xfrm>
            <a:off x="889000" y="5029200"/>
            <a:ext cx="4445000" cy="6985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74424A-4661-6459-8D95-93332EAD0538}"/>
              </a:ext>
            </a:extLst>
          </p:cNvPr>
          <p:cNvSpPr/>
          <p:nvPr/>
        </p:nvSpPr>
        <p:spPr>
          <a:xfrm>
            <a:off x="889000" y="5029200"/>
            <a:ext cx="63500" cy="698500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E99DE8-3F50-B917-03AA-054791BB4EC9}"/>
              </a:ext>
            </a:extLst>
          </p:cNvPr>
          <p:cNvSpPr txBox="1"/>
          <p:nvPr/>
        </p:nvSpPr>
        <p:spPr>
          <a:xfrm>
            <a:off x="1092200" y="5181600"/>
            <a:ext cx="4064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홈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830803-7B4D-5D5E-11DC-9F043FC15ECD}"/>
              </a:ext>
            </a:extLst>
          </p:cNvPr>
          <p:cNvSpPr txBox="1"/>
          <p:nvPr/>
        </p:nvSpPr>
        <p:spPr>
          <a:xfrm>
            <a:off x="1092200" y="5511800"/>
            <a:ext cx="40640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50">
                <a:solidFill>
                  <a:srgbClr val="6B6360"/>
                </a:solidFill>
                <a:latin typeface="Pretendard"/>
              </a:rPr>
              <a:t>출발 조건 입력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추천 지역 카드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AI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챗봇 진입점 제공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9BC3C8-B580-59D7-1C10-02DF807A5E65}"/>
              </a:ext>
            </a:extLst>
          </p:cNvPr>
          <p:cNvSpPr/>
          <p:nvPr/>
        </p:nvSpPr>
        <p:spPr>
          <a:xfrm>
            <a:off x="6705600" y="5029200"/>
            <a:ext cx="4445000" cy="6985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409A08-6645-C8ED-6455-0584E7C8C11C}"/>
              </a:ext>
            </a:extLst>
          </p:cNvPr>
          <p:cNvSpPr/>
          <p:nvPr/>
        </p:nvSpPr>
        <p:spPr>
          <a:xfrm>
            <a:off x="6705600" y="5029200"/>
            <a:ext cx="63500" cy="698500"/>
          </a:xfrm>
          <a:prstGeom prst="rect">
            <a:avLst/>
          </a:prstGeom>
          <a:solidFill>
            <a:srgbClr val="3F75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FA8C2D-995E-4F93-1247-EF9F3FE997C7}"/>
              </a:ext>
            </a:extLst>
          </p:cNvPr>
          <p:cNvSpPr txBox="1"/>
          <p:nvPr/>
        </p:nvSpPr>
        <p:spPr>
          <a:xfrm>
            <a:off x="6908800" y="5181600"/>
            <a:ext cx="4064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지도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9A8042-E721-D703-29F4-922E779220FA}"/>
              </a:ext>
            </a:extLst>
          </p:cNvPr>
          <p:cNvSpPr txBox="1"/>
          <p:nvPr/>
        </p:nvSpPr>
        <p:spPr>
          <a:xfrm>
            <a:off x="6908800" y="5511800"/>
            <a:ext cx="40640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50">
                <a:solidFill>
                  <a:srgbClr val="6B6360"/>
                </a:solidFill>
                <a:latin typeface="Pretendard"/>
              </a:rPr>
              <a:t>추천 장소와 검색 결과를 지도 위에서 확인하고 코스 후보로 활용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046718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86FB3A-5ED2-52DA-0A65-358EBD5B55D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F9CEED-C961-9669-2A7D-199D306C56A5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3064CF-498B-4FFB-4536-EDF12B692AC6}"/>
              </a:ext>
            </a:extLst>
          </p:cNvPr>
          <p:cNvSpPr txBox="1"/>
          <p:nvPr/>
        </p:nvSpPr>
        <p:spPr>
          <a:xfrm>
            <a:off x="457200" y="215900"/>
            <a:ext cx="2413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04 SCREENS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843786-D431-FCB4-21F2-23E68A6162CD}"/>
              </a:ext>
            </a:extLst>
          </p:cNvPr>
          <p:cNvSpPr txBox="1"/>
          <p:nvPr/>
        </p:nvSpPr>
        <p:spPr>
          <a:xfrm>
            <a:off x="457200" y="965200"/>
            <a:ext cx="863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주요 화면 </a:t>
            </a:r>
            <a:r>
              <a:rPr lang="en-US" altLang="ko-KR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2 - </a:t>
            </a:r>
            <a:r>
              <a:rPr lang="ko-KR" altLang="en-US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코스 생성과 상세</a:t>
            </a:r>
            <a:endParaRPr lang="en-US" sz="2400" b="1">
              <a:solidFill>
                <a:srgbClr val="2D2926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DBA576-5A5D-DA69-74FE-275BE2B25DEA}"/>
              </a:ext>
            </a:extLst>
          </p:cNvPr>
          <p:cNvSpPr/>
          <p:nvPr/>
        </p:nvSpPr>
        <p:spPr>
          <a:xfrm>
            <a:off x="457200" y="1473200"/>
            <a:ext cx="11277600" cy="25400"/>
          </a:xfrm>
          <a:prstGeom prst="rect">
            <a:avLst/>
          </a:prstGeom>
          <a:solidFill>
            <a:srgbClr val="E4DD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355AD5-F710-4B5C-5A17-6E843A36CA64}"/>
              </a:ext>
            </a:extLst>
          </p:cNvPr>
          <p:cNvSpPr txBox="1"/>
          <p:nvPr/>
        </p:nvSpPr>
        <p:spPr>
          <a:xfrm>
            <a:off x="9474200" y="215900"/>
            <a:ext cx="2260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ko-KR" altLang="en-US" sz="800">
                <a:solidFill>
                  <a:srgbClr val="FFFFFF"/>
                </a:solidFill>
                <a:latin typeface="Consolas" panose="020B0609020204030204" pitchFamily="49" charset="0"/>
              </a:rPr>
              <a:t>가당 </a:t>
            </a:r>
            <a:r>
              <a:rPr lang="en-US" sz="800">
                <a:solidFill>
                  <a:srgbClr val="FFFFFF"/>
                </a:solidFill>
                <a:latin typeface="Consolas" panose="020B0609020204030204" pitchFamily="49" charset="0"/>
              </a:rPr>
              <a:t>final 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716132-2C80-050D-222F-D4C8EF456A75}"/>
              </a:ext>
            </a:extLst>
          </p:cNvPr>
          <p:cNvSpPr txBox="1"/>
          <p:nvPr/>
        </p:nvSpPr>
        <p:spPr>
          <a:xfrm>
            <a:off x="11290300" y="6388100"/>
            <a:ext cx="444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6B6360"/>
                </a:solidFill>
                <a:latin typeface="Consolas" panose="020B0609020204030204" pitchFamily="49" charset="0"/>
              </a:rPr>
              <a:t>09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7F6BCF-DE3D-880F-6388-7E4CE120BC5F}"/>
              </a:ext>
            </a:extLst>
          </p:cNvPr>
          <p:cNvSpPr/>
          <p:nvPr/>
        </p:nvSpPr>
        <p:spPr>
          <a:xfrm>
            <a:off x="546100" y="1739900"/>
            <a:ext cx="3403600" cy="215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CBAF44-64D7-7630-43DD-FE4FA7DA6FC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38814"/>
            <a:ext cx="3276600" cy="176117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25B4DB0-8F30-2073-E68D-5AEBB5695118}"/>
              </a:ext>
            </a:extLst>
          </p:cNvPr>
          <p:cNvSpPr/>
          <p:nvPr/>
        </p:nvSpPr>
        <p:spPr>
          <a:xfrm>
            <a:off x="4394200" y="1739900"/>
            <a:ext cx="3403600" cy="215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7B946F7-E925-0A92-A614-8D10301C758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700" y="1938814"/>
            <a:ext cx="3276600" cy="176117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4128AD9-FCBD-FD77-48A0-D484EA31BCAC}"/>
              </a:ext>
            </a:extLst>
          </p:cNvPr>
          <p:cNvSpPr/>
          <p:nvPr/>
        </p:nvSpPr>
        <p:spPr>
          <a:xfrm>
            <a:off x="8242300" y="1739900"/>
            <a:ext cx="3403600" cy="215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84DC477-71EC-14B6-033B-37581FB2D56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0" y="1938814"/>
            <a:ext cx="3276600" cy="176117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6A9277A-A682-4754-0A91-0C041C33E9D8}"/>
              </a:ext>
            </a:extLst>
          </p:cNvPr>
          <p:cNvSpPr/>
          <p:nvPr/>
        </p:nvSpPr>
        <p:spPr>
          <a:xfrm>
            <a:off x="609600" y="4445000"/>
            <a:ext cx="3276600" cy="8890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E02435-2C08-59DF-2FEC-55F229766C8C}"/>
              </a:ext>
            </a:extLst>
          </p:cNvPr>
          <p:cNvSpPr/>
          <p:nvPr/>
        </p:nvSpPr>
        <p:spPr>
          <a:xfrm>
            <a:off x="609600" y="4445000"/>
            <a:ext cx="63500" cy="889000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902E6F-C3D9-E510-27E5-E3F0EF66F219}"/>
              </a:ext>
            </a:extLst>
          </p:cNvPr>
          <p:cNvSpPr txBox="1"/>
          <p:nvPr/>
        </p:nvSpPr>
        <p:spPr>
          <a:xfrm>
            <a:off x="812800" y="4597400"/>
            <a:ext cx="28956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지역 선택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D34245-CD43-EEBB-129C-088DCF72AE02}"/>
              </a:ext>
            </a:extLst>
          </p:cNvPr>
          <p:cNvSpPr txBox="1"/>
          <p:nvPr/>
        </p:nvSpPr>
        <p:spPr>
          <a:xfrm>
            <a:off x="812800" y="4927600"/>
            <a:ext cx="28956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50">
                <a:solidFill>
                  <a:srgbClr val="6B6360"/>
                </a:solidFill>
                <a:latin typeface="Pretendard"/>
              </a:rPr>
              <a:t>선택 지역 안에서 세부 조건을 입력하고 추천 흐름으로 진입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8ABFF4-8AA5-EB64-03C3-1A10553551C0}"/>
              </a:ext>
            </a:extLst>
          </p:cNvPr>
          <p:cNvSpPr/>
          <p:nvPr/>
        </p:nvSpPr>
        <p:spPr>
          <a:xfrm>
            <a:off x="4457700" y="4445000"/>
            <a:ext cx="3276600" cy="8890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0EA4DD-0CF1-FD11-5FEF-56D732D99F8A}"/>
              </a:ext>
            </a:extLst>
          </p:cNvPr>
          <p:cNvSpPr/>
          <p:nvPr/>
        </p:nvSpPr>
        <p:spPr>
          <a:xfrm>
            <a:off x="4457700" y="4445000"/>
            <a:ext cx="63500" cy="889000"/>
          </a:xfrm>
          <a:prstGeom prst="rect">
            <a:avLst/>
          </a:prstGeom>
          <a:solidFill>
            <a:srgbClr val="3A9A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91FC5A-F150-DE04-6FFD-FF29FBE6100B}"/>
              </a:ext>
            </a:extLst>
          </p:cNvPr>
          <p:cNvSpPr txBox="1"/>
          <p:nvPr/>
        </p:nvSpPr>
        <p:spPr>
          <a:xfrm>
            <a:off x="4660900" y="4597400"/>
            <a:ext cx="28956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코스 생성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CC2825-EA23-FDB9-C803-0C2684931F64}"/>
              </a:ext>
            </a:extLst>
          </p:cNvPr>
          <p:cNvSpPr txBox="1"/>
          <p:nvPr/>
        </p:nvSpPr>
        <p:spPr>
          <a:xfrm>
            <a:off x="4660900" y="4927600"/>
            <a:ext cx="28956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50">
                <a:solidFill>
                  <a:srgbClr val="6B6360"/>
                </a:solidFill>
                <a:latin typeface="Pretendard"/>
              </a:rPr>
              <a:t>예산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활동 유형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식사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/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카페 여부를 반영해 코스를 생성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BF11629-00D6-4F9F-C0CF-F95F3D049502}"/>
              </a:ext>
            </a:extLst>
          </p:cNvPr>
          <p:cNvSpPr/>
          <p:nvPr/>
        </p:nvSpPr>
        <p:spPr>
          <a:xfrm>
            <a:off x="8305800" y="4445000"/>
            <a:ext cx="3276600" cy="8890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E1C704-10EC-63AC-B3F7-599BBAA5428D}"/>
              </a:ext>
            </a:extLst>
          </p:cNvPr>
          <p:cNvSpPr/>
          <p:nvPr/>
        </p:nvSpPr>
        <p:spPr>
          <a:xfrm>
            <a:off x="8305800" y="4445000"/>
            <a:ext cx="63500" cy="889000"/>
          </a:xfrm>
          <a:prstGeom prst="rect">
            <a:avLst/>
          </a:prstGeom>
          <a:solidFill>
            <a:srgbClr val="3F75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B46B66-B07C-6FB7-B1FF-EEDF65CDEC4D}"/>
              </a:ext>
            </a:extLst>
          </p:cNvPr>
          <p:cNvSpPr txBox="1"/>
          <p:nvPr/>
        </p:nvSpPr>
        <p:spPr>
          <a:xfrm>
            <a:off x="8509000" y="4597400"/>
            <a:ext cx="28956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상세 타임라인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72DDEB-1D24-0B95-1BE8-5F4E023F10E0}"/>
              </a:ext>
            </a:extLst>
          </p:cNvPr>
          <p:cNvSpPr txBox="1"/>
          <p:nvPr/>
        </p:nvSpPr>
        <p:spPr>
          <a:xfrm>
            <a:off x="8509000" y="4927600"/>
            <a:ext cx="28956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50">
                <a:solidFill>
                  <a:srgbClr val="6B6360"/>
                </a:solidFill>
                <a:latin typeface="Pretendard"/>
              </a:rPr>
              <a:t>방문 순서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비용 영수증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이동 정보를 함께 제시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988844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8EB626-F153-9BE5-1C52-6C4A9DDF1F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5C5B66-2AC4-1BC3-75A6-D4D8515D112E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DA187F-C550-B463-84E7-612059928A38}"/>
              </a:ext>
            </a:extLst>
          </p:cNvPr>
          <p:cNvSpPr txBox="1"/>
          <p:nvPr/>
        </p:nvSpPr>
        <p:spPr>
          <a:xfrm>
            <a:off x="457200" y="215900"/>
            <a:ext cx="2413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04 SCREENS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0D25D7-9801-3429-F975-399D1E0637B4}"/>
              </a:ext>
            </a:extLst>
          </p:cNvPr>
          <p:cNvSpPr txBox="1"/>
          <p:nvPr/>
        </p:nvSpPr>
        <p:spPr>
          <a:xfrm>
            <a:off x="457200" y="965200"/>
            <a:ext cx="863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주요 화면 </a:t>
            </a:r>
            <a:r>
              <a:rPr lang="en-US" altLang="ko-KR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3 - </a:t>
            </a:r>
            <a:r>
              <a:rPr lang="ko-KR" altLang="en-US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커뮤니티와 운영</a:t>
            </a:r>
            <a:endParaRPr lang="en-US" sz="2400" b="1">
              <a:solidFill>
                <a:srgbClr val="2D2926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DD414A-AF9C-DCF1-19DE-194248284836}"/>
              </a:ext>
            </a:extLst>
          </p:cNvPr>
          <p:cNvSpPr/>
          <p:nvPr/>
        </p:nvSpPr>
        <p:spPr>
          <a:xfrm>
            <a:off x="457200" y="1473200"/>
            <a:ext cx="11277600" cy="25400"/>
          </a:xfrm>
          <a:prstGeom prst="rect">
            <a:avLst/>
          </a:prstGeom>
          <a:solidFill>
            <a:srgbClr val="E4DD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850D6B-2826-D7B5-9EBA-4F6FC847D23F}"/>
              </a:ext>
            </a:extLst>
          </p:cNvPr>
          <p:cNvSpPr txBox="1"/>
          <p:nvPr/>
        </p:nvSpPr>
        <p:spPr>
          <a:xfrm>
            <a:off x="9474200" y="215900"/>
            <a:ext cx="2260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ko-KR" altLang="en-US" sz="800">
                <a:solidFill>
                  <a:srgbClr val="FFFFFF"/>
                </a:solidFill>
                <a:latin typeface="Consolas" panose="020B0609020204030204" pitchFamily="49" charset="0"/>
              </a:rPr>
              <a:t>가당 </a:t>
            </a:r>
            <a:r>
              <a:rPr lang="en-US" sz="800">
                <a:solidFill>
                  <a:srgbClr val="FFFFFF"/>
                </a:solidFill>
                <a:latin typeface="Consolas" panose="020B0609020204030204" pitchFamily="49" charset="0"/>
              </a:rPr>
              <a:t>final 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8C15F1-D4B8-BB96-DF97-9D7B15EDBFB5}"/>
              </a:ext>
            </a:extLst>
          </p:cNvPr>
          <p:cNvSpPr txBox="1"/>
          <p:nvPr/>
        </p:nvSpPr>
        <p:spPr>
          <a:xfrm>
            <a:off x="11290300" y="6388100"/>
            <a:ext cx="444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6B6360"/>
                </a:solidFill>
                <a:latin typeface="Consolas" panose="020B0609020204030204" pitchFamily="49" charset="0"/>
              </a:rPr>
              <a:t>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BB4980-B9FB-BAB2-B845-EE51A7F99036}"/>
              </a:ext>
            </a:extLst>
          </p:cNvPr>
          <p:cNvSpPr/>
          <p:nvPr/>
        </p:nvSpPr>
        <p:spPr>
          <a:xfrm>
            <a:off x="520700" y="1739900"/>
            <a:ext cx="3429000" cy="2095500"/>
          </a:xfrm>
          <a:prstGeom prst="rect">
            <a:avLst/>
          </a:prstGeom>
          <a:solidFill>
            <a:srgbClr val="FFFFFF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CD2403-38A7-9E15-1417-3F4520FA618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1900238"/>
            <a:ext cx="3302000" cy="177482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FC10EF3-EBC3-D284-F347-B932DEF0545B}"/>
              </a:ext>
            </a:extLst>
          </p:cNvPr>
          <p:cNvSpPr/>
          <p:nvPr/>
        </p:nvSpPr>
        <p:spPr>
          <a:xfrm>
            <a:off x="4381500" y="1739900"/>
            <a:ext cx="3429000" cy="2095500"/>
          </a:xfrm>
          <a:prstGeom prst="rect">
            <a:avLst/>
          </a:prstGeom>
          <a:solidFill>
            <a:srgbClr val="FFFFFF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4BD570C-B882-22CA-8222-5560F2FB70C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0" y="1900238"/>
            <a:ext cx="3302000" cy="177482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D4CFA15-68C6-DEB5-F251-F918FB87EBE9}"/>
              </a:ext>
            </a:extLst>
          </p:cNvPr>
          <p:cNvSpPr/>
          <p:nvPr/>
        </p:nvSpPr>
        <p:spPr>
          <a:xfrm>
            <a:off x="8242300" y="1739900"/>
            <a:ext cx="3429000" cy="2095500"/>
          </a:xfrm>
          <a:prstGeom prst="rect">
            <a:avLst/>
          </a:prstGeom>
          <a:solidFill>
            <a:srgbClr val="FFFFFF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8377306-C8D2-D983-5731-050E29F0099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0" y="1900238"/>
            <a:ext cx="3302000" cy="177482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5F97C28-1502-DFE2-592B-A2DFF296071B}"/>
              </a:ext>
            </a:extLst>
          </p:cNvPr>
          <p:cNvSpPr/>
          <p:nvPr/>
        </p:nvSpPr>
        <p:spPr>
          <a:xfrm>
            <a:off x="584200" y="4368800"/>
            <a:ext cx="3302000" cy="8890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B399E6-024C-61D3-C6C0-860158F27DDB}"/>
              </a:ext>
            </a:extLst>
          </p:cNvPr>
          <p:cNvSpPr/>
          <p:nvPr/>
        </p:nvSpPr>
        <p:spPr>
          <a:xfrm>
            <a:off x="584200" y="4368800"/>
            <a:ext cx="63500" cy="889000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44B93D-8E2A-FFFF-9754-7388CEE557C3}"/>
              </a:ext>
            </a:extLst>
          </p:cNvPr>
          <p:cNvSpPr txBox="1"/>
          <p:nvPr/>
        </p:nvSpPr>
        <p:spPr>
          <a:xfrm>
            <a:off x="787400" y="4521200"/>
            <a:ext cx="2921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커뮤니티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19DFBA-6278-B53D-1903-17187A822E6C}"/>
              </a:ext>
            </a:extLst>
          </p:cNvPr>
          <p:cNvSpPr txBox="1"/>
          <p:nvPr/>
        </p:nvSpPr>
        <p:spPr>
          <a:xfrm>
            <a:off x="787400" y="4851400"/>
            <a:ext cx="29210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50">
                <a:solidFill>
                  <a:srgbClr val="6B6360"/>
                </a:solidFill>
                <a:latin typeface="Pretendard"/>
              </a:rPr>
              <a:t>코스 공유와 후기 탐색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댓글 기능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828BFD-CA49-CFFD-C65E-CD0D74BC2DE9}"/>
              </a:ext>
            </a:extLst>
          </p:cNvPr>
          <p:cNvSpPr/>
          <p:nvPr/>
        </p:nvSpPr>
        <p:spPr>
          <a:xfrm>
            <a:off x="4445000" y="4368800"/>
            <a:ext cx="3302000" cy="8890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AB1A45-8C13-0660-AE8C-8F2E13DB09F4}"/>
              </a:ext>
            </a:extLst>
          </p:cNvPr>
          <p:cNvSpPr/>
          <p:nvPr/>
        </p:nvSpPr>
        <p:spPr>
          <a:xfrm>
            <a:off x="4445000" y="4368800"/>
            <a:ext cx="63500" cy="889000"/>
          </a:xfrm>
          <a:prstGeom prst="rect">
            <a:avLst/>
          </a:prstGeom>
          <a:solidFill>
            <a:srgbClr val="3A9A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E8C855-D7A8-3321-11DA-F13A63EDDA03}"/>
              </a:ext>
            </a:extLst>
          </p:cNvPr>
          <p:cNvSpPr txBox="1"/>
          <p:nvPr/>
        </p:nvSpPr>
        <p:spPr>
          <a:xfrm>
            <a:off x="4648200" y="4521200"/>
            <a:ext cx="2921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마이페이지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03CE44-8CA2-2C26-BFCF-158E064E5B01}"/>
              </a:ext>
            </a:extLst>
          </p:cNvPr>
          <p:cNvSpPr txBox="1"/>
          <p:nvPr/>
        </p:nvSpPr>
        <p:spPr>
          <a:xfrm>
            <a:off x="4648200" y="4851400"/>
            <a:ext cx="29210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50">
                <a:solidFill>
                  <a:srgbClr val="6B6360"/>
                </a:solidFill>
                <a:latin typeface="Pretendard"/>
              </a:rPr>
              <a:t>저장 일정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즐겨찾기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작성 게시글 관리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AA425B-BC86-44AF-3949-B1BE551979E8}"/>
              </a:ext>
            </a:extLst>
          </p:cNvPr>
          <p:cNvSpPr/>
          <p:nvPr/>
        </p:nvSpPr>
        <p:spPr>
          <a:xfrm>
            <a:off x="8305800" y="4368800"/>
            <a:ext cx="3302000" cy="8890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26AFF2-875B-8932-6F33-F08F30704D65}"/>
              </a:ext>
            </a:extLst>
          </p:cNvPr>
          <p:cNvSpPr/>
          <p:nvPr/>
        </p:nvSpPr>
        <p:spPr>
          <a:xfrm>
            <a:off x="8305800" y="4368800"/>
            <a:ext cx="63500" cy="889000"/>
          </a:xfrm>
          <a:prstGeom prst="rect">
            <a:avLst/>
          </a:prstGeom>
          <a:solidFill>
            <a:srgbClr val="3F75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E943A5-758E-36CA-2D14-43550101864B}"/>
              </a:ext>
            </a:extLst>
          </p:cNvPr>
          <p:cNvSpPr txBox="1"/>
          <p:nvPr/>
        </p:nvSpPr>
        <p:spPr>
          <a:xfrm>
            <a:off x="8509000" y="4521200"/>
            <a:ext cx="2921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관리자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F94D31-5CF8-06FC-5544-8E55E2FE6995}"/>
              </a:ext>
            </a:extLst>
          </p:cNvPr>
          <p:cNvSpPr txBox="1"/>
          <p:nvPr/>
        </p:nvSpPr>
        <p:spPr>
          <a:xfrm>
            <a:off x="8509000" y="4851400"/>
            <a:ext cx="29210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50">
                <a:solidFill>
                  <a:srgbClr val="6B6360"/>
                </a:solidFill>
                <a:latin typeface="Pretendard"/>
              </a:rPr>
              <a:t>회원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공지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데이터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블랙리스트 운영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23016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9FDB9B-38C5-0FAB-59C9-428C73B755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219CC9-CD9C-DFA0-76D1-1F61D8FFBA8C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2D85E0-3C1C-927F-90A4-623424D9E969}"/>
              </a:ext>
            </a:extLst>
          </p:cNvPr>
          <p:cNvSpPr txBox="1"/>
          <p:nvPr/>
        </p:nvSpPr>
        <p:spPr>
          <a:xfrm>
            <a:off x="457200" y="215900"/>
            <a:ext cx="2413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04 SCREENS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BDB1A9-776C-B806-B3A8-AC9F0799B51B}"/>
              </a:ext>
            </a:extLst>
          </p:cNvPr>
          <p:cNvSpPr txBox="1"/>
          <p:nvPr/>
        </p:nvSpPr>
        <p:spPr>
          <a:xfrm>
            <a:off x="457200" y="965200"/>
            <a:ext cx="863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주요 화면 </a:t>
            </a:r>
            <a:r>
              <a:rPr lang="en-US" altLang="ko-KR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4 - </a:t>
            </a:r>
            <a:r>
              <a:rPr lang="ko-KR" altLang="en-US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인증</a:t>
            </a:r>
            <a:r>
              <a:rPr lang="en-US" altLang="ko-KR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작성</a:t>
            </a:r>
            <a:r>
              <a:rPr lang="en-US" altLang="ko-KR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AI</a:t>
            </a:r>
            <a:endParaRPr lang="en-US" sz="2400" b="1">
              <a:solidFill>
                <a:srgbClr val="2D2926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B0AC0B-E342-DEED-A5A9-0941210669D8}"/>
              </a:ext>
            </a:extLst>
          </p:cNvPr>
          <p:cNvSpPr/>
          <p:nvPr/>
        </p:nvSpPr>
        <p:spPr>
          <a:xfrm>
            <a:off x="457200" y="1473200"/>
            <a:ext cx="11277600" cy="25400"/>
          </a:xfrm>
          <a:prstGeom prst="rect">
            <a:avLst/>
          </a:prstGeom>
          <a:solidFill>
            <a:srgbClr val="E4DD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BF5A0D-5F68-FC48-4E39-D89BDB584F17}"/>
              </a:ext>
            </a:extLst>
          </p:cNvPr>
          <p:cNvSpPr txBox="1"/>
          <p:nvPr/>
        </p:nvSpPr>
        <p:spPr>
          <a:xfrm>
            <a:off x="9474200" y="215900"/>
            <a:ext cx="2260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ko-KR" altLang="en-US" sz="800">
                <a:solidFill>
                  <a:srgbClr val="FFFFFF"/>
                </a:solidFill>
                <a:latin typeface="Consolas" panose="020B0609020204030204" pitchFamily="49" charset="0"/>
              </a:rPr>
              <a:t>가당 </a:t>
            </a:r>
            <a:r>
              <a:rPr lang="en-US" sz="800">
                <a:solidFill>
                  <a:srgbClr val="FFFFFF"/>
                </a:solidFill>
                <a:latin typeface="Consolas" panose="020B0609020204030204" pitchFamily="49" charset="0"/>
              </a:rPr>
              <a:t>final 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B3F8C5-E1C3-D731-934D-8A95B4396B8D}"/>
              </a:ext>
            </a:extLst>
          </p:cNvPr>
          <p:cNvSpPr txBox="1"/>
          <p:nvPr/>
        </p:nvSpPr>
        <p:spPr>
          <a:xfrm>
            <a:off x="11290300" y="6388100"/>
            <a:ext cx="444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6B6360"/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4B57E5-015F-8D9A-2866-F2845CF7A06D}"/>
              </a:ext>
            </a:extLst>
          </p:cNvPr>
          <p:cNvSpPr/>
          <p:nvPr/>
        </p:nvSpPr>
        <p:spPr>
          <a:xfrm>
            <a:off x="622300" y="1778000"/>
            <a:ext cx="3302000" cy="203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578D97-2D78-AF60-6EB5-551764A9A35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940719"/>
            <a:ext cx="3175000" cy="170656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3BE04C4-F9C4-A33D-BAC1-9AA61A669EB8}"/>
              </a:ext>
            </a:extLst>
          </p:cNvPr>
          <p:cNvSpPr/>
          <p:nvPr/>
        </p:nvSpPr>
        <p:spPr>
          <a:xfrm>
            <a:off x="4432300" y="1778000"/>
            <a:ext cx="3302000" cy="203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49F16C1-C99E-631D-A746-C4875E59EDE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1940719"/>
            <a:ext cx="3175000" cy="170656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746CDC5-D5A3-FFA2-D850-BA169DEC4EED}"/>
              </a:ext>
            </a:extLst>
          </p:cNvPr>
          <p:cNvSpPr/>
          <p:nvPr/>
        </p:nvSpPr>
        <p:spPr>
          <a:xfrm>
            <a:off x="8242300" y="1778000"/>
            <a:ext cx="3302000" cy="2032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AEA4390-CDD4-A6B0-2729-4094F10E4FF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0" y="2071477"/>
            <a:ext cx="3175000" cy="144504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29C0890-19DC-D5DD-0E25-74B8312F2C7E}"/>
              </a:ext>
            </a:extLst>
          </p:cNvPr>
          <p:cNvSpPr/>
          <p:nvPr/>
        </p:nvSpPr>
        <p:spPr>
          <a:xfrm>
            <a:off x="685800" y="4368800"/>
            <a:ext cx="3175000" cy="8890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E9E5F0-A2DB-C548-211C-DD7E6C817011}"/>
              </a:ext>
            </a:extLst>
          </p:cNvPr>
          <p:cNvSpPr/>
          <p:nvPr/>
        </p:nvSpPr>
        <p:spPr>
          <a:xfrm>
            <a:off x="685800" y="4368800"/>
            <a:ext cx="63500" cy="889000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191F32-1042-5B14-BE85-3B76B77AA20B}"/>
              </a:ext>
            </a:extLst>
          </p:cNvPr>
          <p:cNvSpPr txBox="1"/>
          <p:nvPr/>
        </p:nvSpPr>
        <p:spPr>
          <a:xfrm>
            <a:off x="889000" y="4521200"/>
            <a:ext cx="2794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로그인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8A35FE-7C38-E6B2-1596-DDF8C1FE1181}"/>
              </a:ext>
            </a:extLst>
          </p:cNvPr>
          <p:cNvSpPr txBox="1"/>
          <p:nvPr/>
        </p:nvSpPr>
        <p:spPr>
          <a:xfrm>
            <a:off x="889000" y="4851400"/>
            <a:ext cx="27940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50">
                <a:solidFill>
                  <a:srgbClr val="6B6360"/>
                </a:solidFill>
                <a:latin typeface="Pretendard"/>
              </a:rPr>
              <a:t>일반 로그인과 네이버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/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카카오 소셜 로그인 제공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86D19D-285F-D9D7-991B-60269D51E1FC}"/>
              </a:ext>
            </a:extLst>
          </p:cNvPr>
          <p:cNvSpPr/>
          <p:nvPr/>
        </p:nvSpPr>
        <p:spPr>
          <a:xfrm>
            <a:off x="4495800" y="4368800"/>
            <a:ext cx="3175000" cy="8890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D17B05-9452-BFA8-C129-158F5C863B02}"/>
              </a:ext>
            </a:extLst>
          </p:cNvPr>
          <p:cNvSpPr/>
          <p:nvPr/>
        </p:nvSpPr>
        <p:spPr>
          <a:xfrm>
            <a:off x="4495800" y="4368800"/>
            <a:ext cx="63500" cy="889000"/>
          </a:xfrm>
          <a:prstGeom prst="rect">
            <a:avLst/>
          </a:prstGeom>
          <a:solidFill>
            <a:srgbClr val="3A9A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80E09C-9D01-3521-97C3-4FA23DF51601}"/>
              </a:ext>
            </a:extLst>
          </p:cNvPr>
          <p:cNvSpPr txBox="1"/>
          <p:nvPr/>
        </p:nvSpPr>
        <p:spPr>
          <a:xfrm>
            <a:off x="4699000" y="4521200"/>
            <a:ext cx="2794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게시글 작성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70BD47-67C0-2C64-FCB3-5C29F0DCFEE3}"/>
              </a:ext>
            </a:extLst>
          </p:cNvPr>
          <p:cNvSpPr txBox="1"/>
          <p:nvPr/>
        </p:nvSpPr>
        <p:spPr>
          <a:xfrm>
            <a:off x="4699000" y="4851400"/>
            <a:ext cx="27940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50">
                <a:solidFill>
                  <a:srgbClr val="6B6360"/>
                </a:solidFill>
                <a:latin typeface="Pretendard"/>
              </a:rPr>
              <a:t>장소별 실제 지출 금액과 소요 시간을 후기 데이터로 저장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A2270C0-2BAF-5B91-D55E-2447B42C71B1}"/>
              </a:ext>
            </a:extLst>
          </p:cNvPr>
          <p:cNvSpPr/>
          <p:nvPr/>
        </p:nvSpPr>
        <p:spPr>
          <a:xfrm>
            <a:off x="8305800" y="4368800"/>
            <a:ext cx="3175000" cy="8890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471E87-85D1-A9A1-A9FC-94062AC508FE}"/>
              </a:ext>
            </a:extLst>
          </p:cNvPr>
          <p:cNvSpPr/>
          <p:nvPr/>
        </p:nvSpPr>
        <p:spPr>
          <a:xfrm>
            <a:off x="8305800" y="4368800"/>
            <a:ext cx="63500" cy="889000"/>
          </a:xfrm>
          <a:prstGeom prst="rect">
            <a:avLst/>
          </a:prstGeom>
          <a:solidFill>
            <a:srgbClr val="3F75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12AD56-1BA0-63F6-6C67-B1DFF9964C28}"/>
              </a:ext>
            </a:extLst>
          </p:cNvPr>
          <p:cNvSpPr txBox="1"/>
          <p:nvPr/>
        </p:nvSpPr>
        <p:spPr>
          <a:xfrm>
            <a:off x="8509000" y="4521200"/>
            <a:ext cx="2794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50" b="1">
                <a:solidFill>
                  <a:srgbClr val="2D2926"/>
                </a:solidFill>
                <a:latin typeface="Pretendard"/>
              </a:rPr>
              <a:t>AI </a:t>
            </a:r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챗봇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89BDF8-3199-2A3B-36AD-AB71276CFB25}"/>
              </a:ext>
            </a:extLst>
          </p:cNvPr>
          <p:cNvSpPr txBox="1"/>
          <p:nvPr/>
        </p:nvSpPr>
        <p:spPr>
          <a:xfrm>
            <a:off x="8509000" y="4851400"/>
            <a:ext cx="27940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6B6360"/>
                </a:solidFill>
                <a:latin typeface="Pretendard"/>
              </a:rPr>
              <a:t>Tool Calling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으로 장소 검색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코스 생성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공유 코스 탐색 연결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143929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BE8C6A-4068-1ECD-AC38-732EE52CC1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790FBB1-E3D0-558C-1554-007609FB8901}"/>
              </a:ext>
            </a:extLst>
          </p:cNvPr>
          <p:cNvSpPr/>
          <p:nvPr/>
        </p:nvSpPr>
        <p:spPr>
          <a:xfrm>
            <a:off x="6451600" y="1841500"/>
            <a:ext cx="4572000" cy="41910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0F372D-7D62-8DF2-F738-1C0F21A8B518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331B2-0851-7638-B335-E53E420CC7CE}"/>
              </a:ext>
            </a:extLst>
          </p:cNvPr>
          <p:cNvSpPr txBox="1"/>
          <p:nvPr/>
        </p:nvSpPr>
        <p:spPr>
          <a:xfrm>
            <a:off x="457200" y="215900"/>
            <a:ext cx="2413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05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A05C7C-2DEC-5917-773A-CE10B10BB970}"/>
              </a:ext>
            </a:extLst>
          </p:cNvPr>
          <p:cNvSpPr txBox="1"/>
          <p:nvPr/>
        </p:nvSpPr>
        <p:spPr>
          <a:xfrm>
            <a:off x="457200" y="965200"/>
            <a:ext cx="863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코스 생성 알고리즘 </a:t>
            </a:r>
            <a:r>
              <a:rPr lang="en-US" altLang="ko-KR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1 - </a:t>
            </a:r>
            <a:r>
              <a:rPr lang="ko-KR" altLang="en-US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후보와 제약 조건</a:t>
            </a:r>
            <a:endParaRPr lang="en-US" sz="2400" b="1">
              <a:solidFill>
                <a:srgbClr val="2D2926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112E11-C0D5-2EC2-C30D-696DC0BC53B1}"/>
              </a:ext>
            </a:extLst>
          </p:cNvPr>
          <p:cNvSpPr/>
          <p:nvPr/>
        </p:nvSpPr>
        <p:spPr>
          <a:xfrm>
            <a:off x="457200" y="1473200"/>
            <a:ext cx="11277600" cy="25400"/>
          </a:xfrm>
          <a:prstGeom prst="rect">
            <a:avLst/>
          </a:prstGeom>
          <a:solidFill>
            <a:srgbClr val="E4DD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0D80F9-4785-32EA-D9E1-3F743462AAD6}"/>
              </a:ext>
            </a:extLst>
          </p:cNvPr>
          <p:cNvSpPr txBox="1"/>
          <p:nvPr/>
        </p:nvSpPr>
        <p:spPr>
          <a:xfrm>
            <a:off x="9474200" y="215900"/>
            <a:ext cx="2260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ko-KR" altLang="en-US" sz="800">
                <a:solidFill>
                  <a:srgbClr val="FFFFFF"/>
                </a:solidFill>
                <a:latin typeface="Consolas" panose="020B0609020204030204" pitchFamily="49" charset="0"/>
              </a:rPr>
              <a:t>가당 </a:t>
            </a:r>
            <a:r>
              <a:rPr lang="en-US" sz="800">
                <a:solidFill>
                  <a:srgbClr val="FFFFFF"/>
                </a:solidFill>
                <a:latin typeface="Consolas" panose="020B0609020204030204" pitchFamily="49" charset="0"/>
              </a:rPr>
              <a:t>final 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CF7323-B280-BF2D-1B76-05FD85DC4DAF}"/>
              </a:ext>
            </a:extLst>
          </p:cNvPr>
          <p:cNvSpPr txBox="1"/>
          <p:nvPr/>
        </p:nvSpPr>
        <p:spPr>
          <a:xfrm>
            <a:off x="11290300" y="6388100"/>
            <a:ext cx="444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6B6360"/>
                </a:solidFill>
                <a:latin typeface="Consolas" panose="020B0609020204030204" pitchFamily="49" charset="0"/>
              </a:rPr>
              <a:t>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066709-DE8D-D04F-D168-DCD83759ADD5}"/>
              </a:ext>
            </a:extLst>
          </p:cNvPr>
          <p:cNvSpPr/>
          <p:nvPr/>
        </p:nvSpPr>
        <p:spPr>
          <a:xfrm>
            <a:off x="736600" y="1841500"/>
            <a:ext cx="4851400" cy="10414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D36D64-707C-C319-E879-A560BA35711E}"/>
              </a:ext>
            </a:extLst>
          </p:cNvPr>
          <p:cNvSpPr/>
          <p:nvPr/>
        </p:nvSpPr>
        <p:spPr>
          <a:xfrm>
            <a:off x="736600" y="1841500"/>
            <a:ext cx="63500" cy="1041400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95EE38-F122-FF0F-B256-F203E6BE3AE1}"/>
              </a:ext>
            </a:extLst>
          </p:cNvPr>
          <p:cNvSpPr txBox="1"/>
          <p:nvPr/>
        </p:nvSpPr>
        <p:spPr>
          <a:xfrm>
            <a:off x="939800" y="1993900"/>
            <a:ext cx="44704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250" b="1">
                <a:solidFill>
                  <a:srgbClr val="2D2926"/>
                </a:solidFill>
                <a:latin typeface="Pretendard"/>
              </a:rPr>
              <a:t>1. </a:t>
            </a:r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입력 조건 정규화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A41CF6-5364-7D9B-29D6-ED7F094A0BAE}"/>
              </a:ext>
            </a:extLst>
          </p:cNvPr>
          <p:cNvSpPr txBox="1"/>
          <p:nvPr/>
        </p:nvSpPr>
        <p:spPr>
          <a:xfrm>
            <a:off x="939800" y="2324100"/>
            <a:ext cx="44704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50">
                <a:solidFill>
                  <a:srgbClr val="6B6360"/>
                </a:solidFill>
                <a:latin typeface="Pretendard"/>
              </a:rPr>
              <a:t>지역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출발지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출발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/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귀가 시간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예산 가이드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활동 유형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식사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/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카페 여부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고정 장소를 하나의 요청 모델로 정리합니다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.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C91669-E709-D5A8-706B-E28625EE4228}"/>
              </a:ext>
            </a:extLst>
          </p:cNvPr>
          <p:cNvSpPr/>
          <p:nvPr/>
        </p:nvSpPr>
        <p:spPr>
          <a:xfrm>
            <a:off x="736600" y="3314700"/>
            <a:ext cx="4851400" cy="11938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6B2854-9975-682E-536B-CC7DB8F478BF}"/>
              </a:ext>
            </a:extLst>
          </p:cNvPr>
          <p:cNvSpPr/>
          <p:nvPr/>
        </p:nvSpPr>
        <p:spPr>
          <a:xfrm>
            <a:off x="736600" y="3314700"/>
            <a:ext cx="63500" cy="1193800"/>
          </a:xfrm>
          <a:prstGeom prst="rect">
            <a:avLst/>
          </a:prstGeom>
          <a:solidFill>
            <a:srgbClr val="3A9A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7C7B7A-6C55-B1E7-3D0C-91511B6E2EE3}"/>
              </a:ext>
            </a:extLst>
          </p:cNvPr>
          <p:cNvSpPr txBox="1"/>
          <p:nvPr/>
        </p:nvSpPr>
        <p:spPr>
          <a:xfrm>
            <a:off x="939800" y="3467100"/>
            <a:ext cx="44704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250" b="1">
                <a:solidFill>
                  <a:srgbClr val="2D2926"/>
                </a:solidFill>
                <a:latin typeface="Pretendard"/>
              </a:rPr>
              <a:t>2. </a:t>
            </a:r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후보 수집과 </a:t>
            </a:r>
            <a:r>
              <a:rPr lang="en-US" sz="1250" b="1">
                <a:solidFill>
                  <a:srgbClr val="2D2926"/>
                </a:solidFill>
                <a:latin typeface="Pretendard"/>
              </a:rPr>
              <a:t>Top-K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4BD678-D6E8-FCF9-DC42-C1906EBE1310}"/>
              </a:ext>
            </a:extLst>
          </p:cNvPr>
          <p:cNvSpPr txBox="1"/>
          <p:nvPr/>
        </p:nvSpPr>
        <p:spPr>
          <a:xfrm>
            <a:off x="939800" y="3797300"/>
            <a:ext cx="44704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6B6360"/>
                </a:solidFill>
                <a:latin typeface="Pretendard"/>
              </a:rPr>
              <a:t>Kakao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후보를 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15~20km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반경에서 가져오고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중복 제거 후 점수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·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중심 거리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·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허브 거리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·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랜덤 보정을 반영해 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TOP_K 16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개를 구성합니다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.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8BFBB1-7AA9-B4FB-1502-360C466BE77B}"/>
              </a:ext>
            </a:extLst>
          </p:cNvPr>
          <p:cNvSpPr/>
          <p:nvPr/>
        </p:nvSpPr>
        <p:spPr>
          <a:xfrm>
            <a:off x="736600" y="4940300"/>
            <a:ext cx="4851400" cy="10922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D0008C-02B0-7102-FA0E-237F99B48D39}"/>
              </a:ext>
            </a:extLst>
          </p:cNvPr>
          <p:cNvSpPr/>
          <p:nvPr/>
        </p:nvSpPr>
        <p:spPr>
          <a:xfrm>
            <a:off x="736600" y="4940300"/>
            <a:ext cx="63500" cy="1092200"/>
          </a:xfrm>
          <a:prstGeom prst="rect">
            <a:avLst/>
          </a:prstGeom>
          <a:solidFill>
            <a:srgbClr val="3F75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7C23BA-ADAA-AD3C-F4E9-4EBF6D96E295}"/>
              </a:ext>
            </a:extLst>
          </p:cNvPr>
          <p:cNvSpPr txBox="1"/>
          <p:nvPr/>
        </p:nvSpPr>
        <p:spPr>
          <a:xfrm>
            <a:off x="939800" y="5092700"/>
            <a:ext cx="44704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250" b="1">
                <a:solidFill>
                  <a:srgbClr val="2D2926"/>
                </a:solidFill>
                <a:latin typeface="Pretendard"/>
              </a:rPr>
              <a:t>3. </a:t>
            </a:r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카테고리 쿼터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659D17-F2AF-2A07-BC48-784B65536F81}"/>
              </a:ext>
            </a:extLst>
          </p:cNvPr>
          <p:cNvSpPr txBox="1"/>
          <p:nvPr/>
        </p:nvSpPr>
        <p:spPr>
          <a:xfrm>
            <a:off x="939800" y="5422900"/>
            <a:ext cx="44704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50">
                <a:solidFill>
                  <a:srgbClr val="6B6360"/>
                </a:solidFill>
                <a:latin typeface="Pretendard"/>
              </a:rPr>
              <a:t>식사 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FD6,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카페 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CE7,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관광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/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문화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/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쇼핑 활동 슬롯을 먼저 확보해 특정 유형만 과도하게 몰리지 않도록 후보 풀을 만듭니다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.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846FA6-39A1-E8DE-09DB-63A15EFF5767}"/>
              </a:ext>
            </a:extLst>
          </p:cNvPr>
          <p:cNvSpPr txBox="1"/>
          <p:nvPr/>
        </p:nvSpPr>
        <p:spPr>
          <a:xfrm>
            <a:off x="6792976" y="2209800"/>
            <a:ext cx="3302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400" b="1" dirty="0">
                <a:solidFill>
                  <a:srgbClr val="B85A1E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현재 알고리즘 타입</a:t>
            </a:r>
            <a:endParaRPr lang="en-US" sz="1400" b="1" dirty="0">
              <a:solidFill>
                <a:srgbClr val="B85A1E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186863-6E7E-8AB3-DC37-44A129E8A052}"/>
              </a:ext>
            </a:extLst>
          </p:cNvPr>
          <p:cNvSpPr txBox="1"/>
          <p:nvPr/>
        </p:nvSpPr>
        <p:spPr>
          <a:xfrm>
            <a:off x="6792976" y="2645802"/>
            <a:ext cx="3746500" cy="96949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Scored Top-K + Constraint-aware Greedy Route</a:t>
            </a:r>
          </a:p>
          <a:p>
            <a:endParaRPr lang="en-US" altLang="ko-KR" sz="1050" dirty="0">
              <a:solidFill>
                <a:srgbClr val="6B636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· 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후보 품질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lang="en-US" altLang="ko-KR" sz="1050" dirty="0" err="1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finalScore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- 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중심거리 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- 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허브거리 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+ jitter</a:t>
            </a:r>
          </a:p>
          <a:p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· 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장소 제한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최대 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8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개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고정 장소 최대 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6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개</a:t>
            </a:r>
          </a:p>
          <a:p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· 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비용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교통비 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+ 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입장료 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+ 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식비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/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카페 추정값</a:t>
            </a:r>
          </a:p>
          <a:p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· 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경고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예산 초과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긴 이동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귀가 시간 초과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/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촉박</a:t>
            </a:r>
            <a:endParaRPr lang="en-US" sz="1050" dirty="0">
              <a:solidFill>
                <a:srgbClr val="6B636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EF94DA-6490-A9CC-236A-E71902ED02BB}"/>
              </a:ext>
            </a:extLst>
          </p:cNvPr>
          <p:cNvSpPr txBox="1"/>
          <p:nvPr/>
        </p:nvSpPr>
        <p:spPr>
          <a:xfrm>
            <a:off x="6743446" y="4350771"/>
            <a:ext cx="127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400" b="1" dirty="0">
                <a:solidFill>
                  <a:srgbClr val="B85A1E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필수 슬롯</a:t>
            </a:r>
            <a:endParaRPr lang="en-US" sz="1400" b="1" dirty="0">
              <a:solidFill>
                <a:srgbClr val="B85A1E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D8E042-4A60-FD95-5BFA-0F80B8A322C0}"/>
              </a:ext>
            </a:extLst>
          </p:cNvPr>
          <p:cNvSpPr txBox="1"/>
          <p:nvPr/>
        </p:nvSpPr>
        <p:spPr>
          <a:xfrm>
            <a:off x="6743446" y="4833280"/>
            <a:ext cx="37465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점심 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11:00-14:00, 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카페 기본 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14:00-17:00, 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저녁 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17:00-20:00. 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각 슬롯은 카테고리와 최소 체류 시간을 함께 갖습니다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.</a:t>
            </a:r>
            <a:endParaRPr lang="en-US" sz="1050" dirty="0">
              <a:solidFill>
                <a:srgbClr val="6B636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3803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BA6A8C-7A29-549C-5CDB-52F5C49A97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0D9165-8C47-7852-A7A1-095B7D918F3C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BB64D0-A74F-23A1-6927-9405294F5CBF}"/>
              </a:ext>
            </a:extLst>
          </p:cNvPr>
          <p:cNvSpPr txBox="1"/>
          <p:nvPr/>
        </p:nvSpPr>
        <p:spPr>
          <a:xfrm>
            <a:off x="457200" y="215900"/>
            <a:ext cx="2413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05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7F698-6A8F-B6E5-2B48-2C84F6B02B90}"/>
              </a:ext>
            </a:extLst>
          </p:cNvPr>
          <p:cNvSpPr txBox="1"/>
          <p:nvPr/>
        </p:nvSpPr>
        <p:spPr>
          <a:xfrm>
            <a:off x="457200" y="965200"/>
            <a:ext cx="863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코스 생성 알고리즘 </a:t>
            </a:r>
            <a:r>
              <a:rPr lang="en-US" altLang="ko-KR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2 - </a:t>
            </a:r>
            <a:r>
              <a:rPr lang="ko-KR" altLang="en-US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순서 확정과 재생성</a:t>
            </a:r>
            <a:endParaRPr lang="en-US" sz="2400" b="1">
              <a:solidFill>
                <a:srgbClr val="2D2926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5673F5-5511-0958-242C-545FB327E7B1}"/>
              </a:ext>
            </a:extLst>
          </p:cNvPr>
          <p:cNvSpPr/>
          <p:nvPr/>
        </p:nvSpPr>
        <p:spPr>
          <a:xfrm>
            <a:off x="457200" y="1473200"/>
            <a:ext cx="11277600" cy="25400"/>
          </a:xfrm>
          <a:prstGeom prst="rect">
            <a:avLst/>
          </a:prstGeom>
          <a:solidFill>
            <a:srgbClr val="E4DD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47920D-3CE6-FCC2-4719-259A6FA81099}"/>
              </a:ext>
            </a:extLst>
          </p:cNvPr>
          <p:cNvSpPr txBox="1"/>
          <p:nvPr/>
        </p:nvSpPr>
        <p:spPr>
          <a:xfrm>
            <a:off x="9474200" y="215900"/>
            <a:ext cx="2260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ko-KR" altLang="en-US" sz="800">
                <a:solidFill>
                  <a:srgbClr val="FFFFFF"/>
                </a:solidFill>
                <a:latin typeface="Consolas" panose="020B0609020204030204" pitchFamily="49" charset="0"/>
              </a:rPr>
              <a:t>가당 </a:t>
            </a:r>
            <a:r>
              <a:rPr lang="en-US" sz="800">
                <a:solidFill>
                  <a:srgbClr val="FFFFFF"/>
                </a:solidFill>
                <a:latin typeface="Consolas" panose="020B0609020204030204" pitchFamily="49" charset="0"/>
              </a:rPr>
              <a:t>final 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83DC85-6837-9787-DDCB-B3A6C1DF4F40}"/>
              </a:ext>
            </a:extLst>
          </p:cNvPr>
          <p:cNvSpPr txBox="1"/>
          <p:nvPr/>
        </p:nvSpPr>
        <p:spPr>
          <a:xfrm>
            <a:off x="11290300" y="6388100"/>
            <a:ext cx="444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6B6360"/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BE4E1D-E00E-2018-3C75-6E198E3A05CB}"/>
              </a:ext>
            </a:extLst>
          </p:cNvPr>
          <p:cNvSpPr/>
          <p:nvPr/>
        </p:nvSpPr>
        <p:spPr>
          <a:xfrm>
            <a:off x="736600" y="1841500"/>
            <a:ext cx="4953000" cy="12954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BA6224-7781-8821-D89F-5ABBED271778}"/>
              </a:ext>
            </a:extLst>
          </p:cNvPr>
          <p:cNvSpPr/>
          <p:nvPr/>
        </p:nvSpPr>
        <p:spPr>
          <a:xfrm>
            <a:off x="736600" y="1841500"/>
            <a:ext cx="63500" cy="1295400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99878-C317-0556-AC8B-F635DFC74DEA}"/>
              </a:ext>
            </a:extLst>
          </p:cNvPr>
          <p:cNvSpPr txBox="1"/>
          <p:nvPr/>
        </p:nvSpPr>
        <p:spPr>
          <a:xfrm>
            <a:off x="939800" y="1993900"/>
            <a:ext cx="4572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50" b="1">
                <a:solidFill>
                  <a:srgbClr val="2D2926"/>
                </a:solidFill>
                <a:latin typeface="Pretendard"/>
              </a:rPr>
              <a:t>Set order / </a:t>
            </a:r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선호 순서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A4E2F-5AAB-7119-9FD7-C1DC0FBD6E1C}"/>
              </a:ext>
            </a:extLst>
          </p:cNvPr>
          <p:cNvSpPr txBox="1"/>
          <p:nvPr/>
        </p:nvSpPr>
        <p:spPr>
          <a:xfrm>
            <a:off x="939800" y="2324100"/>
            <a:ext cx="4572000" cy="43858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50">
                <a:solidFill>
                  <a:srgbClr val="6B6360"/>
                </a:solidFill>
                <a:latin typeface="Pretendard"/>
              </a:rPr>
              <a:t>프론트에서 </a:t>
            </a:r>
            <a:r>
              <a:rPr lang="en-US" sz="950">
                <a:solidFill>
                  <a:srgbClr val="6B6360"/>
                </a:solidFill>
                <a:latin typeface="Pretendard"/>
              </a:rPr>
              <a:t>preferenceEntries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가 오면 초기 생성도 </a:t>
            </a:r>
            <a:r>
              <a:rPr lang="en-US" sz="950">
                <a:solidFill>
                  <a:srgbClr val="6B6360"/>
                </a:solidFill>
                <a:latin typeface="Pretendard"/>
              </a:rPr>
              <a:t>regenerate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흐름으로 처리합니다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. </a:t>
            </a:r>
            <a:r>
              <a:rPr lang="en-US" sz="950">
                <a:solidFill>
                  <a:srgbClr val="6B6360"/>
                </a:solidFill>
                <a:latin typeface="Pretendard"/>
              </a:rPr>
              <a:t>LOCKED_PLACE, SPECIFIC_PLACE, ACTIVITY_SLOT, CAFE_SLOT, LUNCH, DINNER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순서 정보를 그대로 해석합니다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.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649A5E-C58B-491E-B144-63B23CE90792}"/>
              </a:ext>
            </a:extLst>
          </p:cNvPr>
          <p:cNvSpPr/>
          <p:nvPr/>
        </p:nvSpPr>
        <p:spPr>
          <a:xfrm>
            <a:off x="736600" y="3403600"/>
            <a:ext cx="4953000" cy="13208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9255F6-1274-0C97-B1BB-EC4779A0ED93}"/>
              </a:ext>
            </a:extLst>
          </p:cNvPr>
          <p:cNvSpPr/>
          <p:nvPr/>
        </p:nvSpPr>
        <p:spPr>
          <a:xfrm>
            <a:off x="736600" y="3403600"/>
            <a:ext cx="63500" cy="1320800"/>
          </a:xfrm>
          <a:prstGeom prst="rect">
            <a:avLst/>
          </a:prstGeom>
          <a:solidFill>
            <a:srgbClr val="3A9A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009CED-9878-1735-A79B-ED785FD21D30}"/>
              </a:ext>
            </a:extLst>
          </p:cNvPr>
          <p:cNvSpPr txBox="1"/>
          <p:nvPr/>
        </p:nvSpPr>
        <p:spPr>
          <a:xfrm>
            <a:off x="939800" y="3556000"/>
            <a:ext cx="4572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50" b="1">
                <a:solidFill>
                  <a:srgbClr val="2D2926"/>
                </a:solidFill>
                <a:latin typeface="Pretendard"/>
              </a:rPr>
              <a:t>Pinned location course gen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B6BA20-A2FD-D72B-65D3-A250A6863381}"/>
              </a:ext>
            </a:extLst>
          </p:cNvPr>
          <p:cNvSpPr txBox="1"/>
          <p:nvPr/>
        </p:nvSpPr>
        <p:spPr>
          <a:xfrm>
            <a:off x="939800" y="3886200"/>
            <a:ext cx="4572000" cy="43858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6B6360"/>
                </a:solidFill>
                <a:latin typeface="Pretendard"/>
              </a:rPr>
              <a:t>fixedPlaces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는 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Anchor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로 검증됩니다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.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시간이 있는 고정 장소는 방문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/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출발 시간이 전체 일정 안에 있어야 하고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모든 고정 장소에 시간이 있으면 방문 시간 기준으로 정렬합니다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.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81C7CB-D20B-4025-B5F9-2395AB3133E9}"/>
              </a:ext>
            </a:extLst>
          </p:cNvPr>
          <p:cNvSpPr/>
          <p:nvPr/>
        </p:nvSpPr>
        <p:spPr>
          <a:xfrm>
            <a:off x="736600" y="4991100"/>
            <a:ext cx="4953000" cy="10414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99154C-ECEC-53E9-985C-D254D45A9705}"/>
              </a:ext>
            </a:extLst>
          </p:cNvPr>
          <p:cNvSpPr/>
          <p:nvPr/>
        </p:nvSpPr>
        <p:spPr>
          <a:xfrm>
            <a:off x="736600" y="4991100"/>
            <a:ext cx="63500" cy="1041400"/>
          </a:xfrm>
          <a:prstGeom prst="rect">
            <a:avLst/>
          </a:prstGeom>
          <a:solidFill>
            <a:srgbClr val="3F75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C8BC49-90C7-9F3D-4679-A78781DF35D1}"/>
              </a:ext>
            </a:extLst>
          </p:cNvPr>
          <p:cNvSpPr txBox="1"/>
          <p:nvPr/>
        </p:nvSpPr>
        <p:spPr>
          <a:xfrm>
            <a:off x="939800" y="5143500"/>
            <a:ext cx="4572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구간별 </a:t>
            </a:r>
            <a:r>
              <a:rPr lang="en-US" altLang="ko-KR" sz="1250" b="1">
                <a:solidFill>
                  <a:srgbClr val="2D2926"/>
                </a:solidFill>
                <a:latin typeface="Pretendard"/>
              </a:rPr>
              <a:t>Greedy </a:t>
            </a:r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채우기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FCBC89-6914-3F91-AA85-EA7744ED4FC1}"/>
              </a:ext>
            </a:extLst>
          </p:cNvPr>
          <p:cNvSpPr txBox="1"/>
          <p:nvPr/>
        </p:nvSpPr>
        <p:spPr>
          <a:xfrm>
            <a:off x="939800" y="5473700"/>
            <a:ext cx="45720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50">
                <a:solidFill>
                  <a:srgbClr val="6B6360"/>
                </a:solidFill>
                <a:latin typeface="Pretendard"/>
              </a:rPr>
              <a:t>출발지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/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허브에서 다음 고정 장소 또는 귀가 목표까지 세그먼트를 나누고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필수 슬롯을 시간순으로 배치한 뒤 남는 시간에 선택 장소를 채웁니다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.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DDD3D1-987F-1EDE-3FCB-4F08BEA291CB}"/>
              </a:ext>
            </a:extLst>
          </p:cNvPr>
          <p:cNvSpPr/>
          <p:nvPr/>
        </p:nvSpPr>
        <p:spPr>
          <a:xfrm>
            <a:off x="6451600" y="1841500"/>
            <a:ext cx="4572000" cy="41910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B7F5FE-BDD9-F57C-AB73-4D75E9E93A79}"/>
              </a:ext>
            </a:extLst>
          </p:cNvPr>
          <p:cNvSpPr txBox="1"/>
          <p:nvPr/>
        </p:nvSpPr>
        <p:spPr>
          <a:xfrm>
            <a:off x="6794500" y="2209800"/>
            <a:ext cx="2032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400" b="1" dirty="0">
                <a:solidFill>
                  <a:srgbClr val="B85A1E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선택 기준</a:t>
            </a:r>
            <a:endParaRPr lang="en-US" sz="1400" b="1" dirty="0">
              <a:solidFill>
                <a:srgbClr val="B85A1E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465828-AE70-1494-3183-2D68BA437E61}"/>
              </a:ext>
            </a:extLst>
          </p:cNvPr>
          <p:cNvSpPr txBox="1"/>
          <p:nvPr/>
        </p:nvSpPr>
        <p:spPr>
          <a:xfrm>
            <a:off x="6794500" y="2653984"/>
            <a:ext cx="3746500" cy="17774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필수 슬롯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해당 카테고리 후보 중 시간창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체류 시간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다음 목표까지 이동 시간을 만족하는 장소를 고릅니다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.</a:t>
            </a:r>
          </a:p>
          <a:p>
            <a:endParaRPr lang="en-US" altLang="ko-KR" sz="1050" dirty="0">
              <a:solidFill>
                <a:srgbClr val="6B636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식사 슬롯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이동 부담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(outbound + next target)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을 크게 낮추는 방향으로 선택하고 품질 점수는 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tie-breaker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로 사용합니다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.</a:t>
            </a:r>
          </a:p>
          <a:p>
            <a:endParaRPr lang="en-US" altLang="ko-KR" sz="1050" dirty="0">
              <a:solidFill>
                <a:srgbClr val="6B636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선택 장소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lang="en-US" altLang="ko-KR" sz="1050" dirty="0" err="1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adjustedScore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- 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현재 거리*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0.7 - 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다음 목표 거리*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0.3 + jitter 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기준으로 고릅니다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.</a:t>
            </a:r>
          </a:p>
          <a:p>
            <a:endParaRPr lang="en-US" altLang="ko-KR" sz="1050" dirty="0">
              <a:solidFill>
                <a:srgbClr val="6B636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재생성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사용자가 유지한 장소는 고정하고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빈 슬롯만 같은 카테고리 후보로 다시 채웁니다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.</a:t>
            </a:r>
            <a:endParaRPr lang="en-US" sz="1050" dirty="0">
              <a:solidFill>
                <a:srgbClr val="6B636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626D5F-7D77-7E6E-EFEA-B4FF3D1D9873}"/>
              </a:ext>
            </a:extLst>
          </p:cNvPr>
          <p:cNvSpPr txBox="1"/>
          <p:nvPr/>
        </p:nvSpPr>
        <p:spPr>
          <a:xfrm>
            <a:off x="6794500" y="4873244"/>
            <a:ext cx="1143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400" b="1" dirty="0">
                <a:solidFill>
                  <a:srgbClr val="B85A1E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결과</a:t>
            </a:r>
            <a:endParaRPr lang="en-US" sz="1400" b="1" dirty="0">
              <a:solidFill>
                <a:srgbClr val="B85A1E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543B54-D0B0-C4B7-E779-A6D80D8CB7D6}"/>
              </a:ext>
            </a:extLst>
          </p:cNvPr>
          <p:cNvSpPr txBox="1"/>
          <p:nvPr/>
        </p:nvSpPr>
        <p:spPr>
          <a:xfrm>
            <a:off x="6795516" y="5285568"/>
            <a:ext cx="37465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타임라인 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item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에 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transit/place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를 번갈아 넣고 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order, role, reason</a:t>
            </a:r>
            <a:r>
              <a:rPr lang="ko-KR" altLang="en-US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을 함께 내려 프론트에서 배치 근거를 보여줍니다</a:t>
            </a:r>
            <a:r>
              <a:rPr lang="en-US" altLang="ko-KR" sz="1050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.</a:t>
            </a:r>
            <a:endParaRPr lang="en-US" sz="1050" dirty="0">
              <a:solidFill>
                <a:srgbClr val="6B636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8677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A95CBF-0458-B80B-3F4A-91007578CE2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02B17C-D38B-836C-3F0F-D4362B95EAA0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A0B16-6078-37E9-4DEA-C30A06F7E0CB}"/>
              </a:ext>
            </a:extLst>
          </p:cNvPr>
          <p:cNvSpPr txBox="1"/>
          <p:nvPr/>
        </p:nvSpPr>
        <p:spPr>
          <a:xfrm>
            <a:off x="457200" y="215900"/>
            <a:ext cx="2413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06 DEMO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CCA146-4EC2-E9E1-D1BB-AD3849A002DC}"/>
              </a:ext>
            </a:extLst>
          </p:cNvPr>
          <p:cNvSpPr txBox="1"/>
          <p:nvPr/>
        </p:nvSpPr>
        <p:spPr>
          <a:xfrm>
            <a:off x="457200" y="965200"/>
            <a:ext cx="863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시연 영상</a:t>
            </a:r>
            <a:endParaRPr lang="en-US" sz="2400" b="1">
              <a:solidFill>
                <a:srgbClr val="2D2926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B564F5-F1E6-9F77-15E7-7968D9C2C088}"/>
              </a:ext>
            </a:extLst>
          </p:cNvPr>
          <p:cNvSpPr/>
          <p:nvPr/>
        </p:nvSpPr>
        <p:spPr>
          <a:xfrm>
            <a:off x="457200" y="1473200"/>
            <a:ext cx="11277600" cy="25400"/>
          </a:xfrm>
          <a:prstGeom prst="rect">
            <a:avLst/>
          </a:prstGeom>
          <a:solidFill>
            <a:srgbClr val="E4DD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098C17-BABC-2B77-980A-E114945D31DB}"/>
              </a:ext>
            </a:extLst>
          </p:cNvPr>
          <p:cNvSpPr txBox="1"/>
          <p:nvPr/>
        </p:nvSpPr>
        <p:spPr>
          <a:xfrm>
            <a:off x="9474200" y="215900"/>
            <a:ext cx="2260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ko-KR" altLang="en-US" sz="800">
                <a:solidFill>
                  <a:srgbClr val="FFFFFF"/>
                </a:solidFill>
                <a:latin typeface="Consolas" panose="020B0609020204030204" pitchFamily="49" charset="0"/>
              </a:rPr>
              <a:t>가당 </a:t>
            </a:r>
            <a:r>
              <a:rPr lang="en-US" sz="800">
                <a:solidFill>
                  <a:srgbClr val="FFFFFF"/>
                </a:solidFill>
                <a:latin typeface="Consolas" panose="020B0609020204030204" pitchFamily="49" charset="0"/>
              </a:rPr>
              <a:t>final 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50BBC3-6CC4-DE7E-1F1C-6916A6B4674B}"/>
              </a:ext>
            </a:extLst>
          </p:cNvPr>
          <p:cNvSpPr txBox="1"/>
          <p:nvPr/>
        </p:nvSpPr>
        <p:spPr>
          <a:xfrm>
            <a:off x="11290300" y="6388100"/>
            <a:ext cx="444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6B6360"/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642FEF-8FC3-52E5-0525-F2306FCFFDF1}"/>
              </a:ext>
            </a:extLst>
          </p:cNvPr>
          <p:cNvSpPr/>
          <p:nvPr/>
        </p:nvSpPr>
        <p:spPr>
          <a:xfrm>
            <a:off x="1524000" y="2286000"/>
            <a:ext cx="9144000" cy="3048000"/>
          </a:xfrm>
          <a:prstGeom prst="rect">
            <a:avLst/>
          </a:prstGeom>
          <a:solidFill>
            <a:srgbClr val="FDF0E6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9FFF7B-AB31-F6A3-1E7B-204F053CA44B}"/>
              </a:ext>
            </a:extLst>
          </p:cNvPr>
          <p:cNvSpPr txBox="1"/>
          <p:nvPr/>
        </p:nvSpPr>
        <p:spPr>
          <a:xfrm>
            <a:off x="0" y="2653268"/>
            <a:ext cx="12192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3000" b="1">
                <a:solidFill>
                  <a:srgbClr val="B85A1E"/>
                </a:solidFill>
                <a:latin typeface="Consolas" panose="020B0609020204030204" pitchFamily="49" charset="0"/>
              </a:rPr>
              <a:t>Demo Video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8F0CC4-FDD9-22DC-DF87-0557249A5B7F}"/>
              </a:ext>
            </a:extLst>
          </p:cNvPr>
          <p:cNvSpPr txBox="1"/>
          <p:nvPr/>
        </p:nvSpPr>
        <p:spPr>
          <a:xfrm>
            <a:off x="0" y="3440668"/>
            <a:ext cx="12192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ko-KR" altLang="en-US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이제 실제 서비스 흐름을 시연 영상으로 보여드리겠습니다</a:t>
            </a:r>
            <a:r>
              <a:rPr lang="en-US" altLang="ko-KR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.</a:t>
            </a:r>
            <a:endParaRPr lang="en-US" b="1">
              <a:solidFill>
                <a:srgbClr val="2D2926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5DDC25-69FB-D8DC-9D91-F2E9E64B818E}"/>
              </a:ext>
            </a:extLst>
          </p:cNvPr>
          <p:cNvSpPr txBox="1"/>
          <p:nvPr/>
        </p:nvSpPr>
        <p:spPr>
          <a:xfrm>
            <a:off x="0" y="4151868"/>
            <a:ext cx="1219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ko-KR" altLang="en-US" sz="120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홈 조건 입력 → 지역 추천 → 코스 생성 → 지도</a:t>
            </a:r>
            <a:r>
              <a:rPr lang="en-US" altLang="ko-KR" sz="120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/</a:t>
            </a:r>
            <a:r>
              <a:rPr lang="ko-KR" altLang="en-US" sz="120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타임라인 확인 → 저장</a:t>
            </a:r>
            <a:r>
              <a:rPr lang="en-US" altLang="ko-KR" sz="120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/</a:t>
            </a:r>
            <a:r>
              <a:rPr lang="ko-KR" altLang="en-US" sz="120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공유</a:t>
            </a:r>
            <a:endParaRPr lang="en-US" sz="1200">
              <a:solidFill>
                <a:srgbClr val="6B636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199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8B83C3-7A78-377C-0F24-21312D7E1D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FEC2A5-F1E5-D95D-1023-48C914E31014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069AEB-1040-2ECE-A16B-10F309E74709}"/>
              </a:ext>
            </a:extLst>
          </p:cNvPr>
          <p:cNvSpPr txBox="1"/>
          <p:nvPr/>
        </p:nvSpPr>
        <p:spPr>
          <a:xfrm>
            <a:off x="457200" y="215900"/>
            <a:ext cx="2413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07 WRAP-UP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DA50D-DE3D-78E6-653F-EC6B49B77684}"/>
              </a:ext>
            </a:extLst>
          </p:cNvPr>
          <p:cNvSpPr txBox="1"/>
          <p:nvPr/>
        </p:nvSpPr>
        <p:spPr>
          <a:xfrm>
            <a:off x="457200" y="965200"/>
            <a:ext cx="8636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감사합니다</a:t>
            </a:r>
            <a:endParaRPr lang="en-US" sz="2400" b="1">
              <a:solidFill>
                <a:srgbClr val="2D2926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EFA023-2ADD-E3AC-27EE-38BF609B6663}"/>
              </a:ext>
            </a:extLst>
          </p:cNvPr>
          <p:cNvSpPr/>
          <p:nvPr/>
        </p:nvSpPr>
        <p:spPr>
          <a:xfrm>
            <a:off x="457200" y="1473200"/>
            <a:ext cx="11277600" cy="25400"/>
          </a:xfrm>
          <a:prstGeom prst="rect">
            <a:avLst/>
          </a:prstGeom>
          <a:solidFill>
            <a:srgbClr val="E4DD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F84F2D-0450-CC78-5AD3-2E07DAA0FE46}"/>
              </a:ext>
            </a:extLst>
          </p:cNvPr>
          <p:cNvSpPr txBox="1"/>
          <p:nvPr/>
        </p:nvSpPr>
        <p:spPr>
          <a:xfrm>
            <a:off x="9474200" y="215900"/>
            <a:ext cx="2260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ko-KR" altLang="en-US" sz="800">
                <a:solidFill>
                  <a:srgbClr val="FFFFFF"/>
                </a:solidFill>
                <a:latin typeface="Consolas" panose="020B0609020204030204" pitchFamily="49" charset="0"/>
              </a:rPr>
              <a:t>가당 </a:t>
            </a:r>
            <a:r>
              <a:rPr lang="en-US" sz="800">
                <a:solidFill>
                  <a:srgbClr val="FFFFFF"/>
                </a:solidFill>
                <a:latin typeface="Consolas" panose="020B0609020204030204" pitchFamily="49" charset="0"/>
              </a:rPr>
              <a:t>final 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EB2337-1271-D0AE-F00B-E343D270C4BF}"/>
              </a:ext>
            </a:extLst>
          </p:cNvPr>
          <p:cNvSpPr txBox="1"/>
          <p:nvPr/>
        </p:nvSpPr>
        <p:spPr>
          <a:xfrm>
            <a:off x="11290300" y="6388100"/>
            <a:ext cx="444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6B6360"/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35F412-3450-5472-D490-8757624C45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DA0421-394C-DF66-8816-D7A0A2DECC49}"/>
              </a:ext>
            </a:extLst>
          </p:cNvPr>
          <p:cNvSpPr txBox="1"/>
          <p:nvPr/>
        </p:nvSpPr>
        <p:spPr>
          <a:xfrm>
            <a:off x="0" y="918458"/>
            <a:ext cx="121920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6000" b="1" dirty="0">
                <a:solidFill>
                  <a:srgbClr val="B85A1E"/>
                </a:solidFill>
                <a:latin typeface="Consolas" panose="020B0609020204030204" pitchFamily="49" charset="0"/>
              </a:rPr>
              <a:t>THANK YOU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1F2CD3-C938-E739-7F75-99152F49A369}"/>
              </a:ext>
            </a:extLst>
          </p:cNvPr>
          <p:cNvSpPr txBox="1"/>
          <p:nvPr/>
        </p:nvSpPr>
        <p:spPr>
          <a:xfrm>
            <a:off x="0" y="2057400"/>
            <a:ext cx="121920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ko-KR" altLang="en-US" sz="4200" b="1" dirty="0">
                <a:solidFill>
                  <a:srgbClr val="2D2926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가당</a:t>
            </a:r>
            <a:endParaRPr lang="en-US" sz="4200" b="1" dirty="0">
              <a:solidFill>
                <a:srgbClr val="2D2926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4A8FC8-C5F4-6D0A-0347-51083581CD59}"/>
              </a:ext>
            </a:extLst>
          </p:cNvPr>
          <p:cNvSpPr txBox="1"/>
          <p:nvPr/>
        </p:nvSpPr>
        <p:spPr>
          <a:xfrm>
            <a:off x="0" y="2983298"/>
            <a:ext cx="12192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ko-KR" altLang="en-US" dirty="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가성비 당일치기 여행 플랫폼</a:t>
            </a:r>
            <a:endParaRPr lang="en-US" dirty="0">
              <a:solidFill>
                <a:srgbClr val="6B636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230BBC-C7D5-96B4-A7B5-291B61074C98}"/>
              </a:ext>
            </a:extLst>
          </p:cNvPr>
          <p:cNvSpPr/>
          <p:nvPr/>
        </p:nvSpPr>
        <p:spPr>
          <a:xfrm>
            <a:off x="1034288" y="3999299"/>
            <a:ext cx="3111500" cy="9906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25CD1B-4C49-6217-83D0-5DF9CBA9BA26}"/>
              </a:ext>
            </a:extLst>
          </p:cNvPr>
          <p:cNvSpPr/>
          <p:nvPr/>
        </p:nvSpPr>
        <p:spPr>
          <a:xfrm>
            <a:off x="1034288" y="3999299"/>
            <a:ext cx="63500" cy="990600"/>
          </a:xfrm>
          <a:prstGeom prst="rect">
            <a:avLst/>
          </a:prstGeom>
          <a:solidFill>
            <a:srgbClr val="D9703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4678FA-9615-FFAD-DFDD-2F78D00EA867}"/>
              </a:ext>
            </a:extLst>
          </p:cNvPr>
          <p:cNvSpPr txBox="1"/>
          <p:nvPr/>
        </p:nvSpPr>
        <p:spPr>
          <a:xfrm>
            <a:off x="1237488" y="4151699"/>
            <a:ext cx="27305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시간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AB6D41-9829-5A09-CBD6-6AE1298B4CCB}"/>
              </a:ext>
            </a:extLst>
          </p:cNvPr>
          <p:cNvSpPr txBox="1"/>
          <p:nvPr/>
        </p:nvSpPr>
        <p:spPr>
          <a:xfrm>
            <a:off x="1237488" y="4481899"/>
            <a:ext cx="27305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50">
                <a:solidFill>
                  <a:srgbClr val="6B6360"/>
                </a:solidFill>
                <a:latin typeface="Pretendard"/>
              </a:rPr>
              <a:t>출발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/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귀가 시간 안에서 가능한 지역과 일정을 계산합니다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.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D197C7-8B01-F6E0-4EBC-DEF9A2B72097}"/>
              </a:ext>
            </a:extLst>
          </p:cNvPr>
          <p:cNvSpPr/>
          <p:nvPr/>
        </p:nvSpPr>
        <p:spPr>
          <a:xfrm>
            <a:off x="4564888" y="3999299"/>
            <a:ext cx="3111500" cy="9906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A0AB9E-2E61-DA22-0C6B-F93CA6360B5B}"/>
              </a:ext>
            </a:extLst>
          </p:cNvPr>
          <p:cNvSpPr/>
          <p:nvPr/>
        </p:nvSpPr>
        <p:spPr>
          <a:xfrm>
            <a:off x="4564888" y="3999299"/>
            <a:ext cx="63500" cy="990600"/>
          </a:xfrm>
          <a:prstGeom prst="rect">
            <a:avLst/>
          </a:prstGeom>
          <a:solidFill>
            <a:srgbClr val="3A9A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427A14-3FAB-D2B4-E97A-D022E17039A0}"/>
              </a:ext>
            </a:extLst>
          </p:cNvPr>
          <p:cNvSpPr txBox="1"/>
          <p:nvPr/>
        </p:nvSpPr>
        <p:spPr>
          <a:xfrm>
            <a:off x="4768088" y="4151699"/>
            <a:ext cx="27305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비용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9B711-D32C-406D-8799-50991226E3CF}"/>
              </a:ext>
            </a:extLst>
          </p:cNvPr>
          <p:cNvSpPr txBox="1"/>
          <p:nvPr/>
        </p:nvSpPr>
        <p:spPr>
          <a:xfrm>
            <a:off x="4768088" y="4481899"/>
            <a:ext cx="27305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50">
                <a:solidFill>
                  <a:srgbClr val="6B6360"/>
                </a:solidFill>
                <a:latin typeface="Pretendard"/>
              </a:rPr>
              <a:t>교통비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입장료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, </a:t>
            </a:r>
            <a:r>
              <a:rPr lang="ko-KR" altLang="en-US" sz="950">
                <a:solidFill>
                  <a:srgbClr val="6B6360"/>
                </a:solidFill>
                <a:latin typeface="Pretendard"/>
              </a:rPr>
              <a:t>식비를 나누어 예산 판단을 돕습니다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.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78755A-39A2-F313-1D41-7C8E78941B4B}"/>
              </a:ext>
            </a:extLst>
          </p:cNvPr>
          <p:cNvSpPr/>
          <p:nvPr/>
        </p:nvSpPr>
        <p:spPr>
          <a:xfrm>
            <a:off x="8095488" y="3999299"/>
            <a:ext cx="3111500" cy="990600"/>
          </a:xfrm>
          <a:prstGeom prst="rect">
            <a:avLst/>
          </a:prstGeom>
          <a:solidFill>
            <a:srgbClr val="FAF7F2"/>
          </a:solidFill>
          <a:ln w="10160">
            <a:solidFill>
              <a:srgbClr val="E4DD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7AC040-416A-4D84-7F28-C6E19D0DB825}"/>
              </a:ext>
            </a:extLst>
          </p:cNvPr>
          <p:cNvSpPr/>
          <p:nvPr/>
        </p:nvSpPr>
        <p:spPr>
          <a:xfrm>
            <a:off x="8095488" y="3999299"/>
            <a:ext cx="63500" cy="990600"/>
          </a:xfrm>
          <a:prstGeom prst="rect">
            <a:avLst/>
          </a:prstGeom>
          <a:solidFill>
            <a:srgbClr val="3F75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BA41ED-F417-9D5E-CF50-D7021D531ECF}"/>
              </a:ext>
            </a:extLst>
          </p:cNvPr>
          <p:cNvSpPr txBox="1"/>
          <p:nvPr/>
        </p:nvSpPr>
        <p:spPr>
          <a:xfrm>
            <a:off x="8298688" y="4151699"/>
            <a:ext cx="27305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1250" b="1">
                <a:solidFill>
                  <a:srgbClr val="2D2926"/>
                </a:solidFill>
                <a:latin typeface="Pretendard"/>
              </a:rPr>
              <a:t>동선</a:t>
            </a:r>
            <a:endParaRPr lang="en-US" sz="1250" b="1">
              <a:solidFill>
                <a:srgbClr val="2D2926"/>
              </a:solidFill>
              <a:latin typeface="Pretendar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900C3E-7D88-16C7-18F6-0D25B86DDFBD}"/>
              </a:ext>
            </a:extLst>
          </p:cNvPr>
          <p:cNvSpPr txBox="1"/>
          <p:nvPr/>
        </p:nvSpPr>
        <p:spPr>
          <a:xfrm>
            <a:off x="8298688" y="4481899"/>
            <a:ext cx="27305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50">
                <a:solidFill>
                  <a:srgbClr val="6B6360"/>
                </a:solidFill>
                <a:latin typeface="Pretendard"/>
              </a:rPr>
              <a:t>고정 장소와 필수 슬롯을 반영해 이동 부담을 줄입니다</a:t>
            </a:r>
            <a:r>
              <a:rPr lang="en-US" altLang="ko-KR" sz="950">
                <a:solidFill>
                  <a:srgbClr val="6B6360"/>
                </a:solidFill>
                <a:latin typeface="Pretendard"/>
              </a:rPr>
              <a:t>.</a:t>
            </a:r>
            <a:endParaRPr lang="en-US" sz="950">
              <a:solidFill>
                <a:srgbClr val="6B6360"/>
              </a:solidFill>
              <a:latin typeface="Pretendar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4CCCCA-21D6-298D-9319-53D43E14409B}"/>
              </a:ext>
            </a:extLst>
          </p:cNvPr>
          <p:cNvSpPr txBox="1"/>
          <p:nvPr/>
        </p:nvSpPr>
        <p:spPr>
          <a:xfrm>
            <a:off x="0" y="5867400"/>
            <a:ext cx="1219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ko-KR" sz="100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SSAFY 15</a:t>
            </a:r>
            <a:r>
              <a:rPr lang="ko-KR" altLang="en-US" sz="100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기 부울경 </a:t>
            </a:r>
            <a:r>
              <a:rPr lang="en-US" altLang="ko-KR" sz="100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3</a:t>
            </a:r>
            <a:r>
              <a:rPr lang="ko-KR" altLang="en-US" sz="100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반 </a:t>
            </a:r>
            <a:r>
              <a:rPr lang="en-US" altLang="ko-KR" sz="100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4</a:t>
            </a:r>
            <a:r>
              <a:rPr lang="ko-KR" altLang="en-US" sz="1000">
                <a:solidFill>
                  <a:srgbClr val="6B636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팀</a:t>
            </a:r>
            <a:endParaRPr lang="en-US" sz="1000">
              <a:solidFill>
                <a:srgbClr val="6B636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5629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1230</Words>
  <Application>Microsoft Office PowerPoint</Application>
  <PresentationFormat>Widescreen</PresentationFormat>
  <Paragraphs>215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맑은 고딕</vt:lpstr>
      <vt:lpstr>Pretendard</vt:lpstr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Purple Djinn</dc:creator>
  <cp:lastModifiedBy>Purple Djinn</cp:lastModifiedBy>
  <cp:revision>13</cp:revision>
  <dcterms:created xsi:type="dcterms:W3CDTF">2026-06-25T16:37:19Z</dcterms:created>
  <dcterms:modified xsi:type="dcterms:W3CDTF">2026-06-25T17:46:55Z</dcterms:modified>
</cp:coreProperties>
</file>